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95" r:id="rId8"/>
    <p:sldId id="296" r:id="rId9"/>
    <p:sldId id="297" r:id="rId10"/>
    <p:sldId id="276" r:id="rId11"/>
    <p:sldId id="281" r:id="rId12"/>
    <p:sldId id="298" r:id="rId13"/>
    <p:sldId id="299" r:id="rId14"/>
    <p:sldId id="283" r:id="rId15"/>
    <p:sldId id="282" r:id="rId16"/>
    <p:sldId id="288" r:id="rId17"/>
    <p:sldId id="300" r:id="rId18"/>
    <p:sldId id="302" r:id="rId19"/>
    <p:sldId id="306" r:id="rId20"/>
    <p:sldId id="301" r:id="rId21"/>
    <p:sldId id="303" r:id="rId22"/>
    <p:sldId id="305" r:id="rId23"/>
    <p:sldId id="293" r:id="rId24"/>
    <p:sldId id="27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3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41"/>
    <a:srgbClr val="F1F1F1"/>
    <a:srgbClr val="ED4022"/>
    <a:srgbClr val="1B2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42" y="1116"/>
      </p:cViewPr>
      <p:guideLst>
        <p:guide orient="horz" pos="2313"/>
        <p:guide pos="3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EEDEB-74DD-4590-ADB0-3BDFBC7AA6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043DD-9C8A-432D-8FD9-15B0804A3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485DF-3FAB-45E9-A642-7745AB3E3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BAE56-5081-45C8-9882-C35F39B69E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485DF-3FAB-45E9-A642-7745AB3E3AFD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BAE56-5081-45C8-9882-C35F39B69EB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31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90880" y="2483485"/>
            <a:ext cx="86861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002B4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图神经网络</a:t>
            </a:r>
            <a:r>
              <a:rPr lang="en-US" altLang="zh-CN" sz="7200" dirty="0">
                <a:solidFill>
                  <a:srgbClr val="002B4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GCN</a:t>
            </a:r>
            <a:endParaRPr lang="zh-CN" altLang="en-US" sz="7200" dirty="0">
              <a:solidFill>
                <a:srgbClr val="002B4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  <a:p>
            <a:r>
              <a:rPr lang="zh-CN" altLang="en-US" sz="7200" dirty="0">
                <a:solidFill>
                  <a:srgbClr val="002B4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实验</a:t>
            </a:r>
            <a:endParaRPr lang="zh-CN" altLang="en-US" sz="7200" dirty="0">
              <a:solidFill>
                <a:srgbClr val="002B4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873" y="6056366"/>
            <a:ext cx="2300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汇报人：优品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874" y="4605925"/>
            <a:ext cx="320751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business general template</a:t>
            </a:r>
            <a:endParaRPr lang="en-US" altLang="zh-CN" sz="105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Applicable to enterprise introduction, summary report, sales marketing, chart data</a:t>
            </a:r>
            <a:endParaRPr lang="zh-CN" altLang="en-US" sz="105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文本框 15"/>
          <p:cNvSpPr txBox="1"/>
          <p:nvPr/>
        </p:nvSpPr>
        <p:spPr>
          <a:xfrm>
            <a:off x="741321" y="5028508"/>
            <a:ext cx="5498562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zh-CN" altLang="en-US" sz="1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李世东</a:t>
            </a:r>
            <a:endParaRPr lang="zh-CN" altLang="en-US" sz="1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flipH="1">
            <a:off x="545493" y="-179684"/>
            <a:ext cx="3196202" cy="7130016"/>
            <a:chOff x="8442118" y="-179684"/>
            <a:chExt cx="3196202" cy="7130016"/>
          </a:xfrm>
        </p:grpSpPr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8442118" y="0"/>
              <a:ext cx="1966175" cy="6950332"/>
            </a:xfrm>
            <a:prstGeom prst="line">
              <a:avLst/>
            </a:prstGeom>
            <a:noFill/>
            <a:ln w="7938" cap="flat">
              <a:solidFill>
                <a:srgbClr val="002B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Line 18"/>
            <p:cNvSpPr>
              <a:spLocks noChangeShapeType="1"/>
            </p:cNvSpPr>
            <p:nvPr/>
          </p:nvSpPr>
          <p:spPr bwMode="auto">
            <a:xfrm flipV="1">
              <a:off x="8442118" y="-179684"/>
              <a:ext cx="3196202" cy="7037684"/>
            </a:xfrm>
            <a:prstGeom prst="line">
              <a:avLst/>
            </a:prstGeom>
            <a:noFill/>
            <a:ln w="7938" cap="flat">
              <a:solidFill>
                <a:srgbClr val="002B4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5"/>
          <p:cNvSpPr/>
          <p:nvPr/>
        </p:nvSpPr>
        <p:spPr bwMode="auto">
          <a:xfrm flipH="1" flipV="1">
            <a:off x="-2" y="254523"/>
            <a:ext cx="3054286" cy="660920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9307" y="2197894"/>
            <a:ext cx="17583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26429" y="1827331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3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89622" y="1905506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pitchFamily="34" charset="-122"/>
              </a:rPr>
              <a:t>01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TextBox 76"/>
          <p:cNvSpPr txBox="1"/>
          <p:nvPr>
            <p:custDataLst>
              <p:tags r:id="rId3"/>
            </p:custDataLst>
          </p:nvPr>
        </p:nvSpPr>
        <p:spPr>
          <a:xfrm>
            <a:off x="5234494" y="1936283"/>
            <a:ext cx="6854411" cy="52197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PyG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33415" y="3228783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3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96608" y="3306958"/>
            <a:ext cx="6014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pitchFamily="34" charset="-122"/>
              </a:rPr>
              <a:t>02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TextBox 76"/>
          <p:cNvSpPr txBox="1"/>
          <p:nvPr>
            <p:custDataLst>
              <p:tags r:id="rId6"/>
            </p:custDataLst>
          </p:nvPr>
        </p:nvSpPr>
        <p:spPr>
          <a:xfrm>
            <a:off x="5241479" y="3331088"/>
            <a:ext cx="5115259" cy="52197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pPr fontAlgn="t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340400" y="4623243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3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03593" y="4701418"/>
            <a:ext cx="59436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pitchFamily="34" charset="-122"/>
              </a:rPr>
              <a:t>03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TextBox 76"/>
          <p:cNvSpPr txBox="1"/>
          <p:nvPr>
            <p:custDataLst>
              <p:tags r:id="rId9"/>
            </p:custDataLst>
          </p:nvPr>
        </p:nvSpPr>
        <p:spPr>
          <a:xfrm>
            <a:off x="5248464" y="4725548"/>
            <a:ext cx="5115259" cy="52197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pPr fontAlgn="t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Cora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340400" y="6016433"/>
            <a:ext cx="727831" cy="727831"/>
          </a:xfrm>
          <a:prstGeom prst="roundRect">
            <a:avLst/>
          </a:pr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endParaRPr lang="zh-CN" alt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03593" y="6094608"/>
            <a:ext cx="59436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pitchFamily="34" charset="-122"/>
              </a:rPr>
              <a:t>04</a:t>
            </a:r>
            <a:endParaRPr lang="zh-CN" altLang="en-US" sz="32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8" name="TextBox 76"/>
          <p:cNvSpPr txBox="1"/>
          <p:nvPr>
            <p:custDataLst>
              <p:tags r:id="rId12"/>
            </p:custDataLst>
          </p:nvPr>
        </p:nvSpPr>
        <p:spPr>
          <a:xfrm>
            <a:off x="5248464" y="6118738"/>
            <a:ext cx="5115259" cy="521970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pPr fontAlgn="t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MLP&amp;GCN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zh-CN" altLang="en-US" sz="6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7" y="3393284"/>
            <a:ext cx="3545903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PyG</a:t>
            </a:r>
            <a:endParaRPr lang="en-US" altLang="zh-CN" sz="3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9950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PyG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7427739" y="769472"/>
            <a:ext cx="43180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6845300" y="1610360"/>
            <a:ext cx="5214620" cy="314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PyG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是基于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构建的图神经网络库，用于处理结构化数据和图神经网络实现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核心功能：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提供多种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模型实现（如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GraphSAGE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支持小批量图数据加载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支持和分布式图学习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提供常用基准数据集接口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核心依赖包：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torch-cluster; - torch-scatter; - torch-sparse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版本：最高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9"/>
          <p:cNvSpPr txBox="1"/>
          <p:nvPr/>
        </p:nvSpPr>
        <p:spPr>
          <a:xfrm>
            <a:off x="-40640" y="5276215"/>
            <a:ext cx="1203896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PyG (PyTorch Geometric) is a library built upon PyTorch to easily write and train Graph Neural Networks (GNNs) for a wide range of applications related to structured data.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https://github.com/pyg-team/pytorch_geometric?tab=readme-ov-file#installation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871970" y="1524635"/>
            <a:ext cx="5003800" cy="351091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0" y="5172075"/>
            <a:ext cx="12191365" cy="14859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089660"/>
            <a:ext cx="5996940" cy="3811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549338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r>
              <a:rPr lang="en-US" altLang="zh-CN" sz="3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Zachary's karate club</a:t>
            </a:r>
            <a:endParaRPr lang="en-US" altLang="zh-CN" sz="3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7427739" y="769472"/>
            <a:ext cx="43180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6844992" y="1610192"/>
            <a:ext cx="5214928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解决不规则数据结构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图像和文本相对格式都固定，但是社交网络与化学分子等格式肯定不是固定的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模型迭代更新主要基于图中每个节点及其邻居的信息，基本表示如下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9"/>
          <p:cNvSpPr txBox="1"/>
          <p:nvPr/>
        </p:nvSpPr>
        <p:spPr>
          <a:xfrm>
            <a:off x="-40640" y="5276215"/>
            <a:ext cx="1241869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Zachary's karate club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https://www.journals.uchicago.edu/doi/abs/10.1086/jar.33.4.3629752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https://www.researchgate.net/publication/248519014_An_Information_Flow_Model_for_Conflict_and_Fission_in_Small_Groups1#read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https://pytorch-geometric.readthedocs.io/en/latest/modules/datasets.html#torch_geometric.datasets.KarateClub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871970" y="1524635"/>
            <a:ext cx="5003800" cy="19558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0" y="5172075"/>
            <a:ext cx="12191365" cy="14859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7595" y="2820035"/>
            <a:ext cx="3992880" cy="596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415" y="3480435"/>
            <a:ext cx="6337935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图描述了一个空手道俱乐部会员的社交关系，以34名会员作为节点，如果两位会员在俱乐部之外仍保持社交关系，则在节点间增加一条边。每个节点具有一个34维的特征向量，一共有78条边。在收集数据的过程中，管理人员JohnA和 教练 MrHi(化名)之间产生了冲突，会员们选择了站队，一半会员跟随 M; Hi成立了新俱乐部，剩下一半会员找了新教练或退出了俱乐部。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871220"/>
            <a:ext cx="2715895" cy="2545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630618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处理数据集</a:t>
            </a:r>
            <a:r>
              <a:rPr lang="en-US" altLang="zh-CN" sz="3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Zachary's karate club</a:t>
            </a:r>
            <a:endParaRPr lang="en-US" altLang="zh-CN" sz="3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506874" y="4299437"/>
            <a:ext cx="43180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一个图、</a:t>
            </a:r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个特征，</a:t>
            </a:r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分类任务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9"/>
          <p:cNvSpPr txBox="1"/>
          <p:nvPr/>
        </p:nvSpPr>
        <p:spPr>
          <a:xfrm>
            <a:off x="-40640" y="5276215"/>
            <a:ext cx="1241869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Zachary's karate club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https://www.journals.uchicago.edu/doi/abs/10.1086/jar.33.4.3629752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https://www.researchgate.net/publication/248519014_An_Information_Flow_Model_for_Conflict_and_Fission_in_Small_Groups1#read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https://pytorch-geometric.readthedocs.io/en/latest/modules/datasets.html#torch_geometric.datasets.KarateClub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0" y="5172075"/>
            <a:ext cx="12191365" cy="14859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" y="1291590"/>
            <a:ext cx="4419600" cy="2781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605" y="2072640"/>
            <a:ext cx="4857750" cy="1219200"/>
          </a:xfrm>
          <a:prstGeom prst="rect">
            <a:avLst/>
          </a:prstGeom>
        </p:spPr>
      </p:pic>
      <p:sp>
        <p:nvSpPr>
          <p:cNvPr id="11" name="TextBox 76"/>
          <p:cNvSpPr txBox="1"/>
          <p:nvPr/>
        </p:nvSpPr>
        <p:spPr>
          <a:xfrm>
            <a:off x="6750194" y="3489812"/>
            <a:ext cx="431807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[34, 34]--</a:t>
            </a:r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[M,F]</a:t>
            </a:r>
            <a:endParaRPr lang="en-US" altLang="zh-CN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M: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样本个数</a:t>
            </a:r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F: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edge_index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：图的连接关系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630618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处理数据集</a:t>
            </a:r>
            <a:r>
              <a:rPr lang="en-US" altLang="zh-CN" sz="3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Zachary's karate club</a:t>
            </a:r>
            <a:endParaRPr lang="en-US" altLang="zh-CN" sz="3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241935" y="4504690"/>
            <a:ext cx="6563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打印出来的关系，</a:t>
            </a:r>
            <a:r>
              <a:rPr lang="en-US" altLang="zh-CN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号，</a:t>
            </a:r>
            <a:r>
              <a:rPr lang="en-US" altLang="zh-CN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号一直到</a:t>
            </a:r>
            <a:r>
              <a:rPr lang="en-US" altLang="zh-CN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33</a:t>
            </a:r>
            <a:r>
              <a:rPr lang="zh-CN" altLang="en-US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号都</a:t>
            </a:r>
            <a:r>
              <a:rPr lang="zh-CN" altLang="en-US" sz="16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与哪些有关系</a:t>
            </a:r>
            <a:endParaRPr lang="zh-CN" altLang="en-US" sz="16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6"/>
          <p:cNvSpPr txBox="1"/>
          <p:nvPr/>
        </p:nvSpPr>
        <p:spPr>
          <a:xfrm>
            <a:off x="6872114" y="4933802"/>
            <a:ext cx="43180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个分类</a:t>
            </a:r>
            <a:endParaRPr lang="zh-CN" altLang="en-US" sz="20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530" y="818515"/>
            <a:ext cx="2819400" cy="3581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85" y="1266825"/>
            <a:ext cx="1504950" cy="2686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395" y="500380"/>
            <a:ext cx="3866515" cy="4341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64784" y="1992830"/>
            <a:ext cx="3262432" cy="10156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endParaRPr lang="en-US" altLang="zh-CN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4682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723900" y="1068705"/>
            <a:ext cx="5445125" cy="400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 layer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公式：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graph convolutional operator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（归一化邻接加权）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from the "Semi-supervised Classifcation with Graph 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Convolutional Networks" paper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（论文链接：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https://arxiv.org/abs/1609.02907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Convolutional Layer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from PyG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https://pytorch-geometric.readthedocs.io/en/latest/modules/nn.html#convolutional-layers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9"/>
          <p:cNvSpPr txBox="1"/>
          <p:nvPr/>
        </p:nvSpPr>
        <p:spPr>
          <a:xfrm>
            <a:off x="6210300" y="4715510"/>
            <a:ext cx="5520055" cy="204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GCN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：第一层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输入是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维向量，归一化加权聚合（邻接矩阵加权求和），输出每个节点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输入是每个节点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维向量，再一次聚合邻居信息（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跳融合更远邻域信息），输出每个节点是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第三层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GCN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输入是每个节点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4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维向量，再一次聚合邻居信息，输出每个节点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维向量，可视化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457200" algn="l">
              <a:lnSpc>
                <a:spcPct val="130000"/>
              </a:lnSpc>
            </a:pP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168390" y="4715510"/>
            <a:ext cx="5554345" cy="199834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45160" y="1022985"/>
            <a:ext cx="5524500" cy="384429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380" y="3502660"/>
            <a:ext cx="1600200" cy="323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10" y="1492885"/>
            <a:ext cx="2038350" cy="571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130" y="372110"/>
            <a:ext cx="3712210" cy="41452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28955" y="5166042"/>
            <a:ext cx="5080000" cy="13836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模型的前向传播（forward）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从输入节点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（特征矩阵）与图的边连接关系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edge_index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即邻接矩阵），通过映射函数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f(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𝑋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𝐴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，经历三层卷积，每一层的操作为归一化的邻域信息聚合，并结合非线性激活函数（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tanh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）逐层生成节点隐藏表示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，最终通过分类器得到节点分类输出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09575" y="5133340"/>
            <a:ext cx="5554345" cy="16662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5808345" y="3111500"/>
            <a:ext cx="1920875" cy="2017395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9928860" y="2324100"/>
            <a:ext cx="644525" cy="2341880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19253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5547052" y="1538437"/>
            <a:ext cx="5214928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data.x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：节点特征矩阵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data.edge_index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：边连接关系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h.shape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[34, 2]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（每个节点一个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2D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：每个节点的表示向量（二维）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color=data.y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：节点标签，用颜色区分不同类别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社群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5130165" y="3653790"/>
            <a:ext cx="657352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这段代码仅执行了模型的前向传播，并未进行训练（未通过反向传播与优化器最小化分类损失）。因此得到的节点嵌入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主要由随机初始化参数决定，通常不具备稳定、可解释的类别分离或社群结构表达能力。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452110" y="1456690"/>
            <a:ext cx="5054600" cy="142875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130165" y="3654425"/>
            <a:ext cx="6690995" cy="10388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41755"/>
            <a:ext cx="4593590" cy="49409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52812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semi-supervised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6606232" y="1341587"/>
            <a:ext cx="5214928" cy="3166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CrossEntropyLoss()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：做节点分类的交叉熵损失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Adam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Adam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优化器更新模型参数，学习率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0.01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optimizer.zero_grad()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：清空上一轮累积的梯度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out, h = model(...)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：前向传播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 = ...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：半监督节点分类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loss.backward()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：反向传播，计算梯度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optimizer.step()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：更新参数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epoch in range(401):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训练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401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epoch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10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epoch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画一次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embedding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轴标签显示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epoch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loss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6724650" y="4508500"/>
            <a:ext cx="484251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Karate Club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图上训练一个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GCN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做节点分类。训练过程中，每一轮都会根据已标注的训练节点（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train_mask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）计算交叉熵损失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loss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Adam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更新模型参数，使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loss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逐步下降。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511290" y="1232535"/>
            <a:ext cx="5054600" cy="303974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606540" y="4333875"/>
            <a:ext cx="4960620" cy="20777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867410"/>
            <a:ext cx="5017770" cy="31134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4563745"/>
            <a:ext cx="1677035" cy="17500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595" y="4578350"/>
            <a:ext cx="1673225" cy="17354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855" y="4578350"/>
            <a:ext cx="1681480" cy="17360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80560" y="1992830"/>
            <a:ext cx="3230880" cy="10147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6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点的分类</a:t>
            </a:r>
            <a:r>
              <a:rPr lang="en-US" altLang="zh-CN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Cora</a:t>
            </a:r>
            <a:endParaRPr lang="en-US" altLang="zh-CN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42100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点的分类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-Cora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1272049" y="643107"/>
            <a:ext cx="43180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zh-CN" altLang="en-US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1024255" y="1367790"/>
            <a:ext cx="493712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Cora dataset(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数据集描述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:Yang_et al. (2016))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论文引用数据集，一个图（包含</a:t>
            </a:r>
            <a:r>
              <a:rPr 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论文），每一个点（每一篇论文）有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1433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维向量，最终要对每个点进行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分类任务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每个类别只有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个点有标注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803275" y="5800090"/>
            <a:ext cx="5202555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Github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链接：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https://github.com/kimiyoung/planetoid/tree/master/data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70675" y="4811395"/>
            <a:ext cx="5121910" cy="1103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2708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篇论文，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1433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10556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这里加载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Cora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Planetoid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）图数据集并做特征归一化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打印数据集规模与图结构统计信息（节点数、边数、特征维度、类别数、训练掩码比例及孤立点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自环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无向性等）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80745" y="1165225"/>
            <a:ext cx="5124450" cy="438023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46455" y="5667375"/>
            <a:ext cx="5158740" cy="92075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670675" y="4811395"/>
            <a:ext cx="5124450" cy="14909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3587115"/>
            <a:ext cx="4191000" cy="914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880" y="499110"/>
            <a:ext cx="5445125" cy="4043045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H="1">
            <a:off x="4294505" y="1882775"/>
            <a:ext cx="2365375" cy="918210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755" y="2577465"/>
            <a:ext cx="1936750" cy="1009650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 flipH="1">
            <a:off x="5462905" y="3587750"/>
            <a:ext cx="1202690" cy="333375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725" y="4534535"/>
            <a:ext cx="2905125" cy="952500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/>
        </p:nvCxnSpPr>
        <p:spPr>
          <a:xfrm flipH="1">
            <a:off x="4895850" y="4258945"/>
            <a:ext cx="1774825" cy="782320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6"/>
          <p:cNvSpPr>
            <a:spLocks noChangeShapeType="1"/>
          </p:cNvSpPr>
          <p:nvPr/>
        </p:nvSpPr>
        <p:spPr bwMode="auto">
          <a:xfrm flipH="1">
            <a:off x="3724539" y="-179684"/>
            <a:ext cx="4072921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H="1" flipV="1">
            <a:off x="1904214" y="-1"/>
            <a:ext cx="6243498" cy="6890832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4" name="Line 17"/>
          <p:cNvSpPr>
            <a:spLocks noChangeShapeType="1"/>
          </p:cNvSpPr>
          <p:nvPr/>
        </p:nvSpPr>
        <p:spPr bwMode="auto">
          <a:xfrm>
            <a:off x="0" y="2500664"/>
            <a:ext cx="12192000" cy="3271025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35428" y="0"/>
            <a:ext cx="7521143" cy="6890833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  <a:gd name="connsiteX0" fmla="*/ 4048 w 7779"/>
              <a:gd name="connsiteY0" fmla="*/ 0 h 10000"/>
              <a:gd name="connsiteX1" fmla="*/ 7779 w 7779"/>
              <a:gd name="connsiteY1" fmla="*/ 0 h 10000"/>
              <a:gd name="connsiteX2" fmla="*/ 7779 w 7779"/>
              <a:gd name="connsiteY2" fmla="*/ 10000 h 10000"/>
              <a:gd name="connsiteX3" fmla="*/ 0 w 7779"/>
              <a:gd name="connsiteY3" fmla="*/ 7610 h 10000"/>
              <a:gd name="connsiteX4" fmla="*/ 4048 w 7779"/>
              <a:gd name="connsiteY4" fmla="*/ 0 h 10000"/>
              <a:gd name="connsiteX0-1" fmla="*/ 5204 w 14475"/>
              <a:gd name="connsiteY0-2" fmla="*/ 0 h 9785"/>
              <a:gd name="connsiteX1-3" fmla="*/ 10000 w 14475"/>
              <a:gd name="connsiteY1-4" fmla="*/ 0 h 9785"/>
              <a:gd name="connsiteX2-5" fmla="*/ 14475 w 14475"/>
              <a:gd name="connsiteY2-6" fmla="*/ 9785 h 9785"/>
              <a:gd name="connsiteX3-7" fmla="*/ 0 w 14475"/>
              <a:gd name="connsiteY3-8" fmla="*/ 7610 h 9785"/>
              <a:gd name="connsiteX4-9" fmla="*/ 5204 w 14475"/>
              <a:gd name="connsiteY4-10" fmla="*/ 0 h 9785"/>
              <a:gd name="connsiteX0-11" fmla="*/ 5713 w 12118"/>
              <a:gd name="connsiteY0-12" fmla="*/ 0 h 10000"/>
              <a:gd name="connsiteX1-13" fmla="*/ 9026 w 12118"/>
              <a:gd name="connsiteY1-14" fmla="*/ 0 h 10000"/>
              <a:gd name="connsiteX2-15" fmla="*/ 12118 w 12118"/>
              <a:gd name="connsiteY2-16" fmla="*/ 10000 h 10000"/>
              <a:gd name="connsiteX3-17" fmla="*/ 0 w 12118"/>
              <a:gd name="connsiteY3-18" fmla="*/ 8114 h 10000"/>
              <a:gd name="connsiteX4-19" fmla="*/ 5713 w 12118"/>
              <a:gd name="connsiteY4-20" fmla="*/ 0 h 10000"/>
              <a:gd name="connsiteX0-21" fmla="*/ 6684 w 13089"/>
              <a:gd name="connsiteY0-22" fmla="*/ 0 h 10000"/>
              <a:gd name="connsiteX1-23" fmla="*/ 9997 w 13089"/>
              <a:gd name="connsiteY1-24" fmla="*/ 0 h 10000"/>
              <a:gd name="connsiteX2-25" fmla="*/ 13089 w 13089"/>
              <a:gd name="connsiteY2-26" fmla="*/ 10000 h 10000"/>
              <a:gd name="connsiteX3-27" fmla="*/ 0 w 13089"/>
              <a:gd name="connsiteY3-28" fmla="*/ 8173 h 10000"/>
              <a:gd name="connsiteX4-29" fmla="*/ 6684 w 13089"/>
              <a:gd name="connsiteY4-30" fmla="*/ 0 h 10000"/>
              <a:gd name="connsiteX0-31" fmla="*/ 2369 w 8774"/>
              <a:gd name="connsiteY0-32" fmla="*/ 0 h 10000"/>
              <a:gd name="connsiteX1-33" fmla="*/ 5682 w 8774"/>
              <a:gd name="connsiteY1-34" fmla="*/ 0 h 10000"/>
              <a:gd name="connsiteX2-35" fmla="*/ 8774 w 8774"/>
              <a:gd name="connsiteY2-36" fmla="*/ 10000 h 10000"/>
              <a:gd name="connsiteX3-37" fmla="*/ 0 w 8774"/>
              <a:gd name="connsiteY3-38" fmla="*/ 7222 h 10000"/>
              <a:gd name="connsiteX4-39" fmla="*/ 2369 w 8774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74" h="10000">
                <a:moveTo>
                  <a:pt x="2369" y="0"/>
                </a:moveTo>
                <a:lnTo>
                  <a:pt x="5682" y="0"/>
                </a:lnTo>
                <a:lnTo>
                  <a:pt x="8774" y="10000"/>
                </a:lnTo>
                <a:lnTo>
                  <a:pt x="0" y="7222"/>
                </a:lnTo>
                <a:lnTo>
                  <a:pt x="2369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480560" y="1992830"/>
            <a:ext cx="3230880" cy="10147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60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四部分</a:t>
            </a:r>
            <a:endParaRPr lang="zh-CN" altLang="en-US" sz="60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4323048" y="3333989"/>
            <a:ext cx="3545903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r>
              <a:rPr lang="en-US" altLang="zh-CN" sz="3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-MLP&amp;GCN</a:t>
            </a:r>
            <a:endParaRPr lang="en-US" altLang="zh-CN" sz="3200" dirty="0">
              <a:solidFill>
                <a:prstClr val="white">
                  <a:lumMod val="9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9959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传统的全连接层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(Multi-layer Perception Network)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1228869" y="756772"/>
            <a:ext cx="43180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endParaRPr lang="en-US" altLang="zh-CN" sz="28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799465" y="3002280"/>
            <a:ext cx="495681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第一层全连接层：把输入特征从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dataset.num_features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1433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）映射到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hidden_channels</a:t>
            </a:r>
            <a:r>
              <a:rPr 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16-</a:t>
            </a:r>
            <a:r>
              <a:rPr 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第二层全连接层：把隐藏层从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hidden_channels </a:t>
            </a:r>
            <a:r>
              <a:rPr 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映射到类别数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dataset.num_classes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58190" y="3011805"/>
            <a:ext cx="5124450" cy="113728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5875" y="814070"/>
            <a:ext cx="5715000" cy="466725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758190" y="1278890"/>
            <a:ext cx="5124450" cy="161226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endCxn id="11" idx="3"/>
          </p:cNvCxnSpPr>
          <p:nvPr/>
        </p:nvCxnSpPr>
        <p:spPr>
          <a:xfrm flipH="1">
            <a:off x="5882640" y="2289810"/>
            <a:ext cx="1327150" cy="1290955"/>
          </a:xfrm>
          <a:prstGeom prst="straightConnector1">
            <a:avLst/>
          </a:prstGeom>
          <a:ln w="7620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9"/>
          <p:cNvSpPr txBox="1"/>
          <p:nvPr/>
        </p:nvSpPr>
        <p:spPr>
          <a:xfrm>
            <a:off x="846455" y="4394835"/>
            <a:ext cx="4956810" cy="1259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非线性激活：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ReLU(t)=max(0,t)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增加模型表达能力，使模型不再是纯线性映射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Dropout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：训练时随机把一部分神经元置零，防止过拟合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58190" y="4306570"/>
            <a:ext cx="5124450" cy="113728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9"/>
          <p:cNvSpPr txBox="1"/>
          <p:nvPr/>
        </p:nvSpPr>
        <p:spPr>
          <a:xfrm>
            <a:off x="799465" y="1331595"/>
            <a:ext cx="4956810" cy="1609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两层的多层感知机（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），用于做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节点分类：给每个节点的特征向量（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1433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维），输出该节点属于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个类别的得分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每个节点独立分类，只用自己的特征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，不利用图结构，节点之间不发生信息传播，即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只看节点自身特征，不看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edge_index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47725" y="5734367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hidden_channels 是超参数，16 是常用的基线设置，用于在性能与复杂度之间取得折中，并便于复现实验与公平对比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58190" y="5580380"/>
            <a:ext cx="5124450" cy="6826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9959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传统的全连接层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(Multi-layer Perception Network)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9"/>
          <p:cNvSpPr txBox="1"/>
          <p:nvPr/>
        </p:nvSpPr>
        <p:spPr>
          <a:xfrm>
            <a:off x="2084070" y="4548505"/>
            <a:ext cx="3945890" cy="1259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只用节点特征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data.x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作为输入（不使用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edge_index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train_mask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指定的少量训练节点上计算交叉熵损失并更新参数。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循环训练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epoch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，并打印每轮的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loss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084070" y="4452620"/>
            <a:ext cx="4024630" cy="18561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694170" y="4026852"/>
            <a:ext cx="5080000" cy="13836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在训练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轮后，再在测试集上做一次最终评估并输出最终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Test Accuracy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 Accuracy:0.5740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即测试集中约</a:t>
            </a:r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57.40% 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的节点被正确分类</a:t>
            </a:r>
            <a:endParaRPr lang="en-US" altLang="zh-CN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649720" y="3940175"/>
            <a:ext cx="5124450" cy="135382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" y="845185"/>
            <a:ext cx="5768340" cy="33248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" y="4548505"/>
            <a:ext cx="1623695" cy="1327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0" y="2251075"/>
            <a:ext cx="342900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11661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传统的全连接层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(Multi-layer Perception Network)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887095" y="2800350"/>
            <a:ext cx="5109210" cy="204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使用训练后的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MLP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对所有节点特征矩阵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进行推理，得到每个节点的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类分类得分（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logits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对输出进行二维可视化后，可以观察到整体上仍能形成大致对应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类的聚集区域，说明模型从节点特征中学习到一定的类别区分能力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但不同类别之间的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重叠与交叉较为明显，表明仅依赖节点自身特征时，部分相近类别在表示空间中仍难以充分分离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21385" y="2800350"/>
            <a:ext cx="5124450" cy="22307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758190"/>
            <a:ext cx="5204460" cy="5793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11661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 Neural Network (GNN)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将全连接层替换成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846455" y="1367790"/>
            <a:ext cx="5418455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：第一层图卷积，把每个节点的特征从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1433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维映射到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维，同时融合邻居信息。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conv2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：第二层图卷积，把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维隐藏表示映射到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个类别空间，同样融合邻居信息。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880745" y="3105150"/>
            <a:ext cx="5074285" cy="1489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：节点特征矩阵，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Cora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典型形状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[2708, 1433]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edge_index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：图的边连接关系（稀疏边表）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每一层都会利用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edge_index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把邻居信息聚合进来，即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每个节点把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邻居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的特征按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GCN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的归一化规则做加权聚合，再做线性变换，得到新的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16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维表示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80745" y="1367790"/>
            <a:ext cx="5124450" cy="13557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86130" y="3032760"/>
            <a:ext cx="5218430" cy="156146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4910" y="1193165"/>
            <a:ext cx="607695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11661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Graph Neural Network (GNN)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将全连接层替换成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887095" y="2800350"/>
            <a:ext cx="510921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在评估模式下用随机初始化的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GCN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对全图做一次前向传播，得到每个节点的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logits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，并把这些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logits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按真实标签上色进行可视化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大家都聚集在一起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21385" y="2800350"/>
            <a:ext cx="5124450" cy="13557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565" y="757555"/>
            <a:ext cx="506476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865" y="173355"/>
            <a:ext cx="99593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Graph Neural Network (GNN)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将全连接层替换成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9"/>
          <p:cNvSpPr txBox="1"/>
          <p:nvPr/>
        </p:nvSpPr>
        <p:spPr>
          <a:xfrm>
            <a:off x="2084070" y="4548505"/>
            <a:ext cx="3945890" cy="1558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通过最小化训练节点上的交叉熵损失来优化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GCN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参数，使模型学会利用图结构（邻域聚合）进行节点分类；训练过程中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loss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下降表示拟合在改善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循环训练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epoch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，并打印每轮的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loss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084070" y="4452620"/>
            <a:ext cx="4024630" cy="18561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694170" y="4026852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在训练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轮后，再在测试集上做一次最终评估并输出最终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Test Accuracy</a:t>
            </a:r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 Accuracy:0.8140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，即测试集中约</a:t>
            </a:r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81.40% 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的节点被正确分类</a:t>
            </a:r>
            <a:endParaRPr lang="zh-CN" altLang="en-US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59.4%</a:t>
            </a:r>
            <a:r>
              <a:rPr lang="zh-CN" altLang="en-US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准确率上升到</a:t>
            </a:r>
            <a:r>
              <a:rPr lang="en-US" altLang="zh-CN" sz="14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81.4%</a:t>
            </a:r>
            <a:endParaRPr lang="zh-CN" altLang="en-US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649720" y="3940175"/>
            <a:ext cx="5124450" cy="196723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" y="1249680"/>
            <a:ext cx="5328285" cy="30264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" y="4610735"/>
            <a:ext cx="1689100" cy="1466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065" y="2381250"/>
            <a:ext cx="33147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6"/>
          <p:cNvSpPr txBox="1"/>
          <p:nvPr/>
        </p:nvSpPr>
        <p:spPr>
          <a:xfrm>
            <a:off x="443585" y="173615"/>
            <a:ext cx="626237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Graph Neural Network (GNN)</a:t>
            </a:r>
            <a:endParaRPr lang="en-US" altLang="zh-CN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将全连接层替换成</a:t>
            </a:r>
            <a:r>
              <a:rPr lang="en-US" altLang="zh-CN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GCN</a:t>
            </a:r>
            <a:r>
              <a:rPr lang="zh-CN" altLang="en-US" sz="3200" b="1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</a:t>
            </a:r>
            <a:endParaRPr lang="zh-CN" altLang="en-US" sz="3200" b="1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/>
        </p:nvSpPr>
        <p:spPr bwMode="auto">
          <a:xfrm flipH="1">
            <a:off x="0" y="-13281"/>
            <a:ext cx="409433" cy="832147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9"/>
          <p:cNvSpPr txBox="1"/>
          <p:nvPr>
            <p:custDataLst>
              <p:tags r:id="rId1"/>
            </p:custDataLst>
          </p:nvPr>
        </p:nvSpPr>
        <p:spPr>
          <a:xfrm>
            <a:off x="1116330" y="1993265"/>
            <a:ext cx="4345305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这是用训练好的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GCN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在评估模式下输出每个节点的分类得分，并将这些高维输出按真实类别着色可视化，以观察类别分离效果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1116330" y="1993265"/>
            <a:ext cx="4420235" cy="10579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610" y="741045"/>
            <a:ext cx="5226685" cy="578358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162050" y="3681730"/>
            <a:ext cx="4345305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同一类别（</a:t>
            </a:r>
            <a:r>
              <a:rPr lang="en-US" altLang="zh-CN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14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类之一）的论文节点更可能聚成簇，不同类别之间的簇相对分离，因此整体分布不再像随机初始化时那样杂乱无章、到处散点</a:t>
            </a:r>
            <a:endParaRPr lang="zh-CN" altLang="en-US" sz="14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1162050" y="3681730"/>
            <a:ext cx="4420235" cy="10579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_Line 15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459637" y="0"/>
            <a:ext cx="7651028" cy="6860440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PA_Line 1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045145" y="-179684"/>
            <a:ext cx="4011737" cy="704012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" name="PA_Line 1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17715" y="-37707"/>
            <a:ext cx="10674284" cy="4949588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" name="PA_Line 1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9747262" y="-179684"/>
            <a:ext cx="1891058" cy="7033554"/>
          </a:xfrm>
          <a:prstGeom prst="line">
            <a:avLst/>
          </a:prstGeom>
          <a:noFill/>
          <a:ln w="7938" cap="flat">
            <a:solidFill>
              <a:srgbClr val="002B4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PA_椭圆 1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05344" y="171067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PA_椭圆 2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435706" y="4050757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PA_任意多边形 5"/>
          <p:cNvSpPr/>
          <p:nvPr>
            <p:custDataLst>
              <p:tags r:id="rId7"/>
            </p:custDataLst>
          </p:nvPr>
        </p:nvSpPr>
        <p:spPr bwMode="auto">
          <a:xfrm>
            <a:off x="9257122" y="0"/>
            <a:ext cx="2926691" cy="49118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002B4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rgbClr val="00183C"/>
              </a:solidFill>
            </a:endParaRPr>
          </a:p>
        </p:txBody>
      </p:sp>
      <p:sp>
        <p:nvSpPr>
          <p:cNvPr id="15" name="PA_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47630" y="2860740"/>
            <a:ext cx="100222" cy="100222"/>
          </a:xfrm>
          <a:prstGeom prst="ellipse">
            <a:avLst/>
          </a:prstGeom>
          <a:solidFill>
            <a:srgbClr val="002B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TextBox 76"/>
          <p:cNvSpPr txBox="1"/>
          <p:nvPr/>
        </p:nvSpPr>
        <p:spPr>
          <a:xfrm>
            <a:off x="740874" y="2997736"/>
            <a:ext cx="550061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rgbClr val="002B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altLang="zh-CN" sz="7200" dirty="0">
              <a:solidFill>
                <a:srgbClr val="002B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0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1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2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3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4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5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6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7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8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19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20.xml><?xml version="1.0" encoding="utf-8"?>
<p:tagLst xmlns:p="http://schemas.openxmlformats.org/presentationml/2006/main">
  <p:tag name="KSO_WM_DIAGRAM_VIRTUALLY_FRAME" val="{&quot;height&quot;:387.2600787401575,&quot;left&quot;:340.6137795275591,&quot;top&quot;:143.88433070866142,&quot;width&quot;:611.2685039370081}"/>
</p:tagLst>
</file>

<file path=ppt/tags/tag21.xml><?xml version="1.0" encoding="utf-8"?>
<p:tagLst xmlns:p="http://schemas.openxmlformats.org/presentationml/2006/main">
  <p:tag name="KSO_WM_DIAGRAM_VIRTUALLY_FRAME" val="{&quot;height&quot;:270.25,&quot;left&quot;:84.3,&quot;top&quot;:102.95,&quot;width&quot;:355.25}"/>
</p:tagLst>
</file>

<file path=ppt/tags/tag22.xml><?xml version="1.0" encoding="utf-8"?>
<p:tagLst xmlns:p="http://schemas.openxmlformats.org/presentationml/2006/main">
  <p:tag name="KSO_WM_DIAGRAM_VIRTUALLY_FRAME" val="{&quot;height&quot;:270.25,&quot;left&quot;:84.3,&quot;top&quot;:102.95,&quot;width&quot;:355.25}"/>
</p:tagLst>
</file>

<file path=ppt/tags/tag23.xml><?xml version="1.0" encoding="utf-8"?>
<p:tagLst xmlns:p="http://schemas.openxmlformats.org/presentationml/2006/main">
  <p:tag name="KSO_WM_DIAGRAM_VIRTUALLY_FRAME" val="{&quot;height&quot;:270.25,&quot;left&quot;:84.3,&quot;top&quot;:102.95,&quot;width&quot;:355.25}"/>
</p:tagLst>
</file>

<file path=ppt/tags/tag24.xml><?xml version="1.0" encoding="utf-8"?>
<p:tagLst xmlns:p="http://schemas.openxmlformats.org/presentationml/2006/main">
  <p:tag name="KSO_WM_DIAGRAM_VIRTUALLY_FRAME" val="{&quot;height&quot;:270.25,&quot;left&quot;:84.3,&quot;top&quot;:102.95,&quot;width&quot;:355.25}"/>
</p:tagLst>
</file>

<file path=ppt/tags/tag25.xml><?xml version="1.0" encoding="utf-8"?>
<p:tagLst xmlns:p="http://schemas.openxmlformats.org/presentationml/2006/main">
  <p:tag name="PA" val="v3.0.1"/>
</p:tagLst>
</file>

<file path=ppt/tags/tag26.xml><?xml version="1.0" encoding="utf-8"?>
<p:tagLst xmlns:p="http://schemas.openxmlformats.org/presentationml/2006/main">
  <p:tag name="PA" val="v3.0.1"/>
</p:tagLst>
</file>

<file path=ppt/tags/tag27.xml><?xml version="1.0" encoding="utf-8"?>
<p:tagLst xmlns:p="http://schemas.openxmlformats.org/presentationml/2006/main">
  <p:tag name="PA" val="v3.0.1"/>
</p:tagLst>
</file>

<file path=ppt/tags/tag28.xml><?xml version="1.0" encoding="utf-8"?>
<p:tagLst xmlns:p="http://schemas.openxmlformats.org/presentationml/2006/main">
  <p:tag name="PA" val="v3.0.1"/>
</p:tagLst>
</file>

<file path=ppt/tags/tag29.xml><?xml version="1.0" encoding="utf-8"?>
<p:tagLst xmlns:p="http://schemas.openxmlformats.org/presentationml/2006/main">
  <p:tag name="PA" val="v3.0.1"/>
</p:tagLst>
</file>

<file path=ppt/tags/tag30.xml><?xml version="1.0" encoding="utf-8"?>
<p:tagLst xmlns:p="http://schemas.openxmlformats.org/presentationml/2006/main">
  <p:tag name="PA" val="v3.0.1"/>
</p:tagLst>
</file>

<file path=ppt/tags/tag31.xml><?xml version="1.0" encoding="utf-8"?>
<p:tagLst xmlns:p="http://schemas.openxmlformats.org/presentationml/2006/main">
  <p:tag name="PA" val="v3.0.1"/>
</p:tagLst>
</file>

<file path=ppt/tags/tag32.xml><?xml version="1.0" encoding="utf-8"?>
<p:tagLst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4904</Words>
  <Application>WPS 演示</Application>
  <PresentationFormat>宽屏</PresentationFormat>
  <Paragraphs>226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Impact</vt:lpstr>
      <vt:lpstr>微软雅黑</vt:lpstr>
      <vt:lpstr>Calibri</vt:lpstr>
      <vt:lpstr>Arial Unicode MS</vt:lpstr>
      <vt:lpstr>Calibri Light</vt:lpstr>
      <vt:lpstr>BatangChe</vt:lpstr>
      <vt:lpstr>Segoe Print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李世东</cp:lastModifiedBy>
  <cp:revision>61</cp:revision>
  <dcterms:created xsi:type="dcterms:W3CDTF">2016-12-09T01:44:00Z</dcterms:created>
  <dcterms:modified xsi:type="dcterms:W3CDTF">2025-12-21T14:23:35Z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v1.0_mb_qoR8LeWZrkilfB1LXMdFTw==</vt:lpwstr>
  </property>
  <property fmtid="{D5CDD505-2E9C-101B-9397-08002B2CF9AE}" pid="4" name="ICV">
    <vt:lpwstr>50415EF8F8094D69A2688C9FA3A5100A_11</vt:lpwstr>
  </property>
</Properties>
</file>