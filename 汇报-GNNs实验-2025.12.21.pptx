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95" r:id="rId8"/>
    <p:sldId id="296" r:id="rId9"/>
    <p:sldId id="297" r:id="rId10"/>
    <p:sldId id="276" r:id="rId11"/>
    <p:sldId id="281" r:id="rId12"/>
    <p:sldId id="298" r:id="rId13"/>
    <p:sldId id="299" r:id="rId14"/>
    <p:sldId id="283" r:id="rId15"/>
    <p:sldId id="282" r:id="rId16"/>
    <p:sldId id="288" r:id="rId17"/>
    <p:sldId id="300" r:id="rId18"/>
    <p:sldId id="302" r:id="rId19"/>
    <p:sldId id="306" r:id="rId20"/>
    <p:sldId id="301" r:id="rId21"/>
    <p:sldId id="303" r:id="rId22"/>
    <p:sldId id="305" r:id="rId23"/>
    <p:sldId id="293" r:id="rId24"/>
    <p:sldId id="308" r:id="rId26"/>
    <p:sldId id="307" r:id="rId27"/>
    <p:sldId id="309" r:id="rId28"/>
    <p:sldId id="311" r:id="rId29"/>
    <p:sldId id="313" r:id="rId30"/>
    <p:sldId id="312" r:id="rId31"/>
    <p:sldId id="314" r:id="rId32"/>
    <p:sldId id="279" r:id="rId33"/>
  </p:sldIdLst>
  <p:sldSz cx="12192000" cy="6858000"/>
  <p:notesSz cx="6858000" cy="9144000"/>
  <p:custDataLst>
    <p:tags r:id="rId3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9" userDrawn="1">
          <p15:clr>
            <a:srgbClr val="A4A3A4"/>
          </p15:clr>
        </p15:guide>
        <p15:guide id="2" pos="386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B41"/>
    <a:srgbClr val="F1F1F1"/>
    <a:srgbClr val="ED4022"/>
    <a:srgbClr val="1B2F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1" autoAdjust="0"/>
    <p:restoredTop sz="94660"/>
  </p:normalViewPr>
  <p:slideViewPr>
    <p:cSldViewPr snapToGrid="0" showGuides="1">
      <p:cViewPr varScale="1">
        <p:scale>
          <a:sx n="61" d="100"/>
          <a:sy n="61" d="100"/>
        </p:scale>
        <p:origin x="42" y="1116"/>
      </p:cViewPr>
      <p:guideLst>
        <p:guide orient="horz" pos="2279"/>
        <p:guide pos="386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7" Type="http://schemas.openxmlformats.org/officeDocument/2006/relationships/tags" Target="tags/tag98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notesMaster" Target="notesMasters/notesMaster1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9EEDEB-74DD-4590-ADB0-3BDFBC7AA6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5043DD-9C8A-432D-8FD9-15B0804A3EB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485DF-3FAB-45E9-A642-7745AB3E3AF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0BAE56-5081-45C8-9882-C35F39B69EB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485DF-3FAB-45E9-A642-7745AB3E3AFD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0BAE56-5081-45C8-9882-C35F39B69EBE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7.xml"/><Relationship Id="rId8" Type="http://schemas.openxmlformats.org/officeDocument/2006/relationships/tags" Target="../tags/tag16.xml"/><Relationship Id="rId7" Type="http://schemas.openxmlformats.org/officeDocument/2006/relationships/tags" Target="../tags/tag15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6" Type="http://schemas.openxmlformats.org/officeDocument/2006/relationships/slideLayout" Target="../slideLayouts/slideLayout2.xml"/><Relationship Id="rId15" Type="http://schemas.openxmlformats.org/officeDocument/2006/relationships/tags" Target="../tags/tag23.xml"/><Relationship Id="rId14" Type="http://schemas.openxmlformats.org/officeDocument/2006/relationships/tags" Target="../tags/tag22.xml"/><Relationship Id="rId13" Type="http://schemas.openxmlformats.org/officeDocument/2006/relationships/tags" Target="../tags/tag21.xml"/><Relationship Id="rId12" Type="http://schemas.openxmlformats.org/officeDocument/2006/relationships/tags" Target="../tags/tag20.xml"/><Relationship Id="rId11" Type="http://schemas.openxmlformats.org/officeDocument/2006/relationships/tags" Target="../tags/tag19.xml"/><Relationship Id="rId10" Type="http://schemas.openxmlformats.org/officeDocument/2006/relationships/tags" Target="../tags/tag18.xml"/><Relationship Id="rId1" Type="http://schemas.openxmlformats.org/officeDocument/2006/relationships/tags" Target="../tags/tag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image" Target="../media/image31.png"/><Relationship Id="rId2" Type="http://schemas.openxmlformats.org/officeDocument/2006/relationships/tags" Target="../tags/tag25.xml"/><Relationship Id="rId1" Type="http://schemas.openxmlformats.org/officeDocument/2006/relationships/tags" Target="../tags/tag2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0" Type="http://schemas.openxmlformats.org/officeDocument/2006/relationships/notesSlide" Target="../notesSlides/notesSlide2.xml"/><Relationship Id="rId1" Type="http://schemas.openxmlformats.org/officeDocument/2006/relationships/tags" Target="../tags/tag28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tags" Target="../tags/tag43.xml"/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6" Type="http://schemas.openxmlformats.org/officeDocument/2006/relationships/notesSlide" Target="../notesSlides/notesSlide3.xml"/><Relationship Id="rId25" Type="http://schemas.openxmlformats.org/officeDocument/2006/relationships/slideLayout" Target="../slideLayouts/slideLayout2.xml"/><Relationship Id="rId24" Type="http://schemas.openxmlformats.org/officeDocument/2006/relationships/image" Target="../media/image37.svg"/><Relationship Id="rId23" Type="http://schemas.openxmlformats.org/officeDocument/2006/relationships/image" Target="../media/image36.png"/><Relationship Id="rId22" Type="http://schemas.openxmlformats.org/officeDocument/2006/relationships/tags" Target="../tags/tag53.xml"/><Relationship Id="rId21" Type="http://schemas.openxmlformats.org/officeDocument/2006/relationships/image" Target="../media/image35.svg"/><Relationship Id="rId20" Type="http://schemas.openxmlformats.org/officeDocument/2006/relationships/image" Target="../media/image34.png"/><Relationship Id="rId2" Type="http://schemas.openxmlformats.org/officeDocument/2006/relationships/tags" Target="../tags/tag37.xml"/><Relationship Id="rId19" Type="http://schemas.openxmlformats.org/officeDocument/2006/relationships/tags" Target="../tags/tag52.xml"/><Relationship Id="rId18" Type="http://schemas.openxmlformats.org/officeDocument/2006/relationships/tags" Target="../tags/tag51.xml"/><Relationship Id="rId17" Type="http://schemas.openxmlformats.org/officeDocument/2006/relationships/image" Target="../media/image33.svg"/><Relationship Id="rId16" Type="http://schemas.openxmlformats.org/officeDocument/2006/relationships/image" Target="../media/image32.png"/><Relationship Id="rId15" Type="http://schemas.openxmlformats.org/officeDocument/2006/relationships/tags" Target="../tags/tag50.xml"/><Relationship Id="rId14" Type="http://schemas.openxmlformats.org/officeDocument/2006/relationships/tags" Target="../tags/tag49.xml"/><Relationship Id="rId13" Type="http://schemas.openxmlformats.org/officeDocument/2006/relationships/tags" Target="../tags/tag48.xml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36.xml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tags" Target="../tags/tag61.xml"/><Relationship Id="rId7" Type="http://schemas.openxmlformats.org/officeDocument/2006/relationships/tags" Target="../tags/tag60.xml"/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4" Type="http://schemas.openxmlformats.org/officeDocument/2006/relationships/tags" Target="../tags/tag57.xml"/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0" Type="http://schemas.openxmlformats.org/officeDocument/2006/relationships/notesSlide" Target="../notesSlides/notesSlide4.xml"/><Relationship Id="rId1" Type="http://schemas.openxmlformats.org/officeDocument/2006/relationships/tags" Target="../tags/tag54.xml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tags" Target="../tags/tag69.xml"/><Relationship Id="rId7" Type="http://schemas.openxmlformats.org/officeDocument/2006/relationships/tags" Target="../tags/tag68.xml"/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0" Type="http://schemas.openxmlformats.org/officeDocument/2006/relationships/notesSlide" Target="../notesSlides/notesSlide5.xml"/><Relationship Id="rId1" Type="http://schemas.openxmlformats.org/officeDocument/2006/relationships/tags" Target="../tags/tag62.xml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0" Type="http://schemas.openxmlformats.org/officeDocument/2006/relationships/notesSlide" Target="../notesSlides/notesSlide6.xml"/><Relationship Id="rId1" Type="http://schemas.openxmlformats.org/officeDocument/2006/relationships/tags" Target="../tags/tag70.xml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tags" Target="../tags/tag84.xml"/><Relationship Id="rId8" Type="http://schemas.openxmlformats.org/officeDocument/2006/relationships/image" Target="../media/image39.svg"/><Relationship Id="rId7" Type="http://schemas.openxmlformats.org/officeDocument/2006/relationships/image" Target="../media/image38.png"/><Relationship Id="rId6" Type="http://schemas.openxmlformats.org/officeDocument/2006/relationships/tags" Target="../tags/tag83.xml"/><Relationship Id="rId5" Type="http://schemas.openxmlformats.org/officeDocument/2006/relationships/tags" Target="../tags/tag82.xml"/><Relationship Id="rId4" Type="http://schemas.openxmlformats.org/officeDocument/2006/relationships/tags" Target="../tags/tag81.xml"/><Relationship Id="rId3" Type="http://schemas.openxmlformats.org/officeDocument/2006/relationships/tags" Target="../tags/tag80.xml"/><Relationship Id="rId2" Type="http://schemas.openxmlformats.org/officeDocument/2006/relationships/tags" Target="../tags/tag79.xml"/><Relationship Id="rId17" Type="http://schemas.openxmlformats.org/officeDocument/2006/relationships/notesSlide" Target="../notesSlides/notesSlide7.xml"/><Relationship Id="rId16" Type="http://schemas.openxmlformats.org/officeDocument/2006/relationships/slideLayout" Target="../slideLayouts/slideLayout2.xml"/><Relationship Id="rId15" Type="http://schemas.openxmlformats.org/officeDocument/2006/relationships/tags" Target="../tags/tag89.xml"/><Relationship Id="rId14" Type="http://schemas.openxmlformats.org/officeDocument/2006/relationships/tags" Target="../tags/tag88.xml"/><Relationship Id="rId13" Type="http://schemas.openxmlformats.org/officeDocument/2006/relationships/image" Target="../media/image40.png"/><Relationship Id="rId12" Type="http://schemas.openxmlformats.org/officeDocument/2006/relationships/tags" Target="../tags/tag87.xml"/><Relationship Id="rId11" Type="http://schemas.openxmlformats.org/officeDocument/2006/relationships/tags" Target="../tags/tag86.xml"/><Relationship Id="rId10" Type="http://schemas.openxmlformats.org/officeDocument/2006/relationships/tags" Target="../tags/tag85.xml"/><Relationship Id="rId1" Type="http://schemas.openxmlformats.org/officeDocument/2006/relationships/tags" Target="../tags/tag78.xml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tags" Target="../tags/tag9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90880" y="2483485"/>
            <a:ext cx="868616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7200" dirty="0">
                <a:solidFill>
                  <a:srgbClr val="002B41"/>
                </a:solidFill>
                <a:latin typeface="Impact" panose="020B0806030902050204" pitchFamily="34" charset="0"/>
                <a:ea typeface="微软雅黑" panose="020B0503020204020204" pitchFamily="34" charset="-122"/>
              </a:rPr>
              <a:t>图神经网络</a:t>
            </a:r>
            <a:r>
              <a:rPr lang="en-US" altLang="zh-CN" sz="7200" dirty="0">
                <a:solidFill>
                  <a:srgbClr val="002B41"/>
                </a:solidFill>
                <a:latin typeface="Impact" panose="020B0806030902050204" pitchFamily="34" charset="0"/>
                <a:ea typeface="微软雅黑" panose="020B0503020204020204" pitchFamily="34" charset="-122"/>
              </a:rPr>
              <a:t>GCN</a:t>
            </a:r>
            <a:endParaRPr lang="zh-CN" altLang="en-US" sz="7200" dirty="0">
              <a:solidFill>
                <a:srgbClr val="002B41"/>
              </a:solidFill>
              <a:latin typeface="Impact" panose="020B0806030902050204" pitchFamily="34" charset="0"/>
              <a:ea typeface="微软雅黑" panose="020B0503020204020204" pitchFamily="34" charset="-122"/>
            </a:endParaRPr>
          </a:p>
          <a:p>
            <a:r>
              <a:rPr lang="zh-CN" altLang="en-US" sz="7200" dirty="0">
                <a:solidFill>
                  <a:srgbClr val="002B41"/>
                </a:solidFill>
                <a:latin typeface="Impact" panose="020B0806030902050204" pitchFamily="34" charset="0"/>
                <a:ea typeface="微软雅黑" panose="020B0503020204020204" pitchFamily="34" charset="-122"/>
              </a:rPr>
              <a:t>实验</a:t>
            </a:r>
            <a:endParaRPr lang="zh-CN" altLang="en-US" sz="7200" dirty="0">
              <a:solidFill>
                <a:srgbClr val="002B41"/>
              </a:solidFill>
              <a:latin typeface="Impact" panose="020B080603090205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40873" y="6056366"/>
            <a:ext cx="23002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汇报人：优品</a:t>
            </a:r>
            <a:r>
              <a:rPr lang="en-US" altLang="zh-CN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endParaRPr lang="zh-CN" altLang="en-US" sz="16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40874" y="4605925"/>
            <a:ext cx="320751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Fresh business general template</a:t>
            </a:r>
            <a:endParaRPr lang="en-US" altLang="zh-CN" sz="105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05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Applicable to enterprise introduction, summary report, sales marketing, chart data</a:t>
            </a:r>
            <a:endParaRPr lang="zh-CN" altLang="en-US" sz="105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PA_Line 15"/>
          <p:cNvSpPr>
            <a:spLocks noChangeShapeType="1"/>
          </p:cNvSpPr>
          <p:nvPr>
            <p:custDataLst>
              <p:tags r:id="rId1"/>
            </p:custDataLst>
          </p:nvPr>
        </p:nvSpPr>
        <p:spPr bwMode="auto">
          <a:xfrm flipV="1">
            <a:off x="3459637" y="0"/>
            <a:ext cx="7651028" cy="6860440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9" name="PA_Line 16"/>
          <p:cNvSpPr>
            <a:spLocks noChangeShapeType="1"/>
          </p:cNvSpPr>
          <p:nvPr>
            <p:custDataLst>
              <p:tags r:id="rId2"/>
            </p:custDataLst>
          </p:nvPr>
        </p:nvSpPr>
        <p:spPr bwMode="auto">
          <a:xfrm>
            <a:off x="8045145" y="-179684"/>
            <a:ext cx="4011737" cy="7040124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0" name="PA_Line 17"/>
          <p:cNvSpPr>
            <a:spLocks noChangeShapeType="1"/>
          </p:cNvSpPr>
          <p:nvPr>
            <p:custDataLst>
              <p:tags r:id="rId3"/>
            </p:custDataLst>
          </p:nvPr>
        </p:nvSpPr>
        <p:spPr bwMode="auto">
          <a:xfrm>
            <a:off x="1517715" y="-37707"/>
            <a:ext cx="10674284" cy="4949588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1" name="PA_Line 18"/>
          <p:cNvSpPr>
            <a:spLocks noChangeShapeType="1"/>
          </p:cNvSpPr>
          <p:nvPr>
            <p:custDataLst>
              <p:tags r:id="rId4"/>
            </p:custDataLst>
          </p:nvPr>
        </p:nvSpPr>
        <p:spPr bwMode="auto">
          <a:xfrm flipV="1">
            <a:off x="9747262" y="-179684"/>
            <a:ext cx="1891058" cy="7033554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2" name="PA_椭圆 19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9105344" y="1710670"/>
            <a:ext cx="100222" cy="100222"/>
          </a:xfrm>
          <a:prstGeom prst="ellipse">
            <a:avLst/>
          </a:prstGeom>
          <a:solidFill>
            <a:srgbClr val="002B4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3" name="PA_椭圆 20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10435706" y="4050757"/>
            <a:ext cx="100222" cy="100222"/>
          </a:xfrm>
          <a:prstGeom prst="ellipse">
            <a:avLst/>
          </a:prstGeom>
          <a:solidFill>
            <a:srgbClr val="002B4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4" name="PA_任意多边形 5"/>
          <p:cNvSpPr/>
          <p:nvPr>
            <p:custDataLst>
              <p:tags r:id="rId7"/>
            </p:custDataLst>
          </p:nvPr>
        </p:nvSpPr>
        <p:spPr bwMode="auto">
          <a:xfrm>
            <a:off x="9257122" y="0"/>
            <a:ext cx="2926691" cy="4911881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rgbClr val="00183C"/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5" name="PA_椭圆 19"/>
          <p:cNvSpPr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7847630" y="2860740"/>
            <a:ext cx="100222" cy="100222"/>
          </a:xfrm>
          <a:prstGeom prst="ellipse">
            <a:avLst/>
          </a:prstGeom>
          <a:solidFill>
            <a:srgbClr val="002B4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7" name="文本框 15"/>
          <p:cNvSpPr txBox="1"/>
          <p:nvPr/>
        </p:nvSpPr>
        <p:spPr>
          <a:xfrm>
            <a:off x="741321" y="5028508"/>
            <a:ext cx="5498562" cy="330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汇报人：</a:t>
            </a:r>
            <a:r>
              <a:rPr lang="zh-CN" altLang="en-US" sz="12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李世东</a:t>
            </a:r>
            <a:endParaRPr lang="zh-CN" altLang="en-US" sz="12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 flipH="1">
            <a:off x="545493" y="-179684"/>
            <a:ext cx="3196202" cy="7130016"/>
            <a:chOff x="8442118" y="-179684"/>
            <a:chExt cx="3196202" cy="7130016"/>
          </a:xfrm>
        </p:grpSpPr>
        <p:sp>
          <p:nvSpPr>
            <p:cNvPr id="5" name="Line 16"/>
            <p:cNvSpPr>
              <a:spLocks noChangeShapeType="1"/>
            </p:cNvSpPr>
            <p:nvPr/>
          </p:nvSpPr>
          <p:spPr bwMode="auto">
            <a:xfrm>
              <a:off x="8442118" y="0"/>
              <a:ext cx="1966175" cy="6950332"/>
            </a:xfrm>
            <a:prstGeom prst="line">
              <a:avLst/>
            </a:prstGeom>
            <a:noFill/>
            <a:ln w="7938" cap="flat">
              <a:solidFill>
                <a:srgbClr val="002B41"/>
              </a:solidFill>
              <a:prstDash val="solid"/>
              <a:miter lim="800000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</a:endParaRPr>
            </a:p>
          </p:txBody>
        </p:sp>
        <p:sp>
          <p:nvSpPr>
            <p:cNvPr id="6" name="Line 18"/>
            <p:cNvSpPr>
              <a:spLocks noChangeShapeType="1"/>
            </p:cNvSpPr>
            <p:nvPr/>
          </p:nvSpPr>
          <p:spPr bwMode="auto">
            <a:xfrm flipV="1">
              <a:off x="8442118" y="-179684"/>
              <a:ext cx="3196202" cy="7037684"/>
            </a:xfrm>
            <a:prstGeom prst="line">
              <a:avLst/>
            </a:prstGeom>
            <a:noFill/>
            <a:ln w="7938" cap="flat">
              <a:solidFill>
                <a:srgbClr val="002B41"/>
              </a:solidFill>
              <a:prstDash val="solid"/>
              <a:miter lim="800000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</a:endParaRPr>
            </a:p>
          </p:txBody>
        </p:sp>
      </p:grpSp>
      <p:sp>
        <p:nvSpPr>
          <p:cNvPr id="7" name="Freeform 5"/>
          <p:cNvSpPr/>
          <p:nvPr/>
        </p:nvSpPr>
        <p:spPr bwMode="auto">
          <a:xfrm flipH="1" flipV="1">
            <a:off x="-2" y="254523"/>
            <a:ext cx="3054286" cy="6609201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rgbClr val="00183C"/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19307" y="2197894"/>
            <a:ext cx="175839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en-US" altLang="zh-CN" sz="5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</a:t>
            </a:r>
            <a:endParaRPr lang="zh-CN" alt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椭圆 1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347384" y="319841"/>
            <a:ext cx="727831" cy="727831"/>
          </a:xfrm>
          <a:prstGeom prst="roundRect">
            <a:avLst/>
          </a:pr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fontAlgn="t" hangingPunct="1"/>
            <a:endParaRPr lang="zh-CN" altLang="en-US" sz="200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TextBox 32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410577" y="398016"/>
            <a:ext cx="60144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t" hangingPunct="1"/>
            <a:r>
              <a:rPr lang="en-US" altLang="zh-CN" sz="3200" dirty="0">
                <a:solidFill>
                  <a:schemeClr val="bg1"/>
                </a:solidFill>
                <a:ea typeface="微软雅黑" panose="020B0503020204020204" pitchFamily="34" charset="-122"/>
              </a:rPr>
              <a:t>01</a:t>
            </a:r>
            <a:endParaRPr lang="zh-CN" altLang="en-US" sz="3200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12" name="TextBox 76"/>
          <p:cNvSpPr txBox="1"/>
          <p:nvPr>
            <p:custDataLst>
              <p:tags r:id="rId3"/>
            </p:custDataLst>
          </p:nvPr>
        </p:nvSpPr>
        <p:spPr>
          <a:xfrm>
            <a:off x="5255449" y="428793"/>
            <a:ext cx="6854411" cy="521970"/>
          </a:xfrm>
          <a:prstGeom prst="rect">
            <a:avLst/>
          </a:prstGeom>
          <a:solidFill>
            <a:srgbClr val="F1F1F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PyG</a:t>
            </a:r>
            <a:endParaRPr lang="en-US" altLang="zh-CN" sz="28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椭圆 1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354370" y="1721293"/>
            <a:ext cx="727831" cy="727831"/>
          </a:xfrm>
          <a:prstGeom prst="roundRect">
            <a:avLst/>
          </a:pr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fontAlgn="t" hangingPunct="1"/>
            <a:endParaRPr lang="zh-CN" altLang="en-US" sz="200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4" name="TextBox 32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4417563" y="1799468"/>
            <a:ext cx="60144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t" hangingPunct="1"/>
            <a:r>
              <a:rPr lang="en-US" altLang="zh-CN" sz="3200" dirty="0">
                <a:solidFill>
                  <a:schemeClr val="bg1"/>
                </a:solidFill>
                <a:ea typeface="微软雅黑" panose="020B0503020204020204" pitchFamily="34" charset="-122"/>
              </a:rPr>
              <a:t>02</a:t>
            </a:r>
            <a:endParaRPr lang="zh-CN" altLang="en-US" sz="3200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16" name="TextBox 76"/>
          <p:cNvSpPr txBox="1"/>
          <p:nvPr>
            <p:custDataLst>
              <p:tags r:id="rId6"/>
            </p:custDataLst>
          </p:nvPr>
        </p:nvSpPr>
        <p:spPr>
          <a:xfrm>
            <a:off x="5262434" y="1823598"/>
            <a:ext cx="5115259" cy="521970"/>
          </a:xfrm>
          <a:prstGeom prst="rect">
            <a:avLst/>
          </a:prstGeom>
          <a:solidFill>
            <a:srgbClr val="F1F1F1"/>
          </a:solidFill>
        </p:spPr>
        <p:txBody>
          <a:bodyPr wrap="square" rtlCol="0">
            <a:spAutoFit/>
          </a:bodyPr>
          <a:lstStyle/>
          <a:p>
            <a:pPr fontAlgn="t"/>
            <a:r>
              <a:rPr lang="en-US" altLang="zh-CN" sz="28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</a:t>
            </a:r>
            <a:r>
              <a:rPr lang="zh-CN" altLang="en-US" sz="28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</a:t>
            </a:r>
            <a:endParaRPr lang="en-US" altLang="zh-CN" sz="28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椭圆 1"/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4361355" y="3115753"/>
            <a:ext cx="727831" cy="727831"/>
          </a:xfrm>
          <a:prstGeom prst="roundRect">
            <a:avLst/>
          </a:pr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fontAlgn="t" hangingPunct="1"/>
            <a:endParaRPr lang="zh-CN" altLang="en-US" sz="200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TextBox 32"/>
          <p:cNvSpPr txBox="1"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4424548" y="3193928"/>
            <a:ext cx="594360" cy="5835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t" hangingPunct="1"/>
            <a:r>
              <a:rPr lang="en-US" altLang="zh-CN" sz="3200" dirty="0">
                <a:solidFill>
                  <a:schemeClr val="bg1"/>
                </a:solidFill>
                <a:ea typeface="微软雅黑" panose="020B0503020204020204" pitchFamily="34" charset="-122"/>
              </a:rPr>
              <a:t>03</a:t>
            </a:r>
            <a:endParaRPr lang="zh-CN" altLang="en-US" sz="3200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11" name="TextBox 76"/>
          <p:cNvSpPr txBox="1"/>
          <p:nvPr>
            <p:custDataLst>
              <p:tags r:id="rId9"/>
            </p:custDataLst>
          </p:nvPr>
        </p:nvSpPr>
        <p:spPr>
          <a:xfrm>
            <a:off x="5269419" y="3218058"/>
            <a:ext cx="5115259" cy="521970"/>
          </a:xfrm>
          <a:prstGeom prst="rect">
            <a:avLst/>
          </a:prstGeom>
          <a:solidFill>
            <a:srgbClr val="F1F1F1"/>
          </a:solidFill>
        </p:spPr>
        <p:txBody>
          <a:bodyPr wrap="square" rtlCol="0">
            <a:spAutoFit/>
          </a:bodyPr>
          <a:lstStyle/>
          <a:p>
            <a:pPr fontAlgn="t"/>
            <a:r>
              <a:rPr lang="en-US" altLang="zh-CN" sz="28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Cora</a:t>
            </a:r>
            <a:endParaRPr lang="en-US" altLang="zh-CN" sz="28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椭圆 1"/>
          <p:cNvSpPr>
            <a:spLocks noChangeArrowheads="1"/>
          </p:cNvSpPr>
          <p:nvPr>
            <p:custDataLst>
              <p:tags r:id="rId10"/>
            </p:custDataLst>
          </p:nvPr>
        </p:nvSpPr>
        <p:spPr bwMode="auto">
          <a:xfrm>
            <a:off x="4361355" y="4508943"/>
            <a:ext cx="727831" cy="727831"/>
          </a:xfrm>
          <a:prstGeom prst="roundRect">
            <a:avLst/>
          </a:pr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fontAlgn="t" hangingPunct="1"/>
            <a:endParaRPr lang="zh-CN" altLang="en-US" sz="200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7" name="TextBox 32"/>
          <p:cNvSpPr txBox="1">
            <a:spLocks noChangeArrowheads="1"/>
          </p:cNvSpPr>
          <p:nvPr>
            <p:custDataLst>
              <p:tags r:id="rId11"/>
            </p:custDataLst>
          </p:nvPr>
        </p:nvSpPr>
        <p:spPr bwMode="auto">
          <a:xfrm>
            <a:off x="4424548" y="4587118"/>
            <a:ext cx="594360" cy="5835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t" hangingPunct="1"/>
            <a:r>
              <a:rPr lang="en-US" altLang="zh-CN" sz="3200" dirty="0">
                <a:solidFill>
                  <a:schemeClr val="bg1"/>
                </a:solidFill>
                <a:ea typeface="微软雅黑" panose="020B0503020204020204" pitchFamily="34" charset="-122"/>
              </a:rPr>
              <a:t>04</a:t>
            </a:r>
            <a:endParaRPr lang="zh-CN" altLang="en-US" sz="3200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18" name="TextBox 76"/>
          <p:cNvSpPr txBox="1"/>
          <p:nvPr>
            <p:custDataLst>
              <p:tags r:id="rId12"/>
            </p:custDataLst>
          </p:nvPr>
        </p:nvSpPr>
        <p:spPr>
          <a:xfrm>
            <a:off x="5269419" y="4611248"/>
            <a:ext cx="5115259" cy="521970"/>
          </a:xfrm>
          <a:prstGeom prst="rect">
            <a:avLst/>
          </a:prstGeom>
          <a:solidFill>
            <a:srgbClr val="F1F1F1"/>
          </a:solidFill>
        </p:spPr>
        <p:txBody>
          <a:bodyPr wrap="square" rtlCol="0">
            <a:spAutoFit/>
          </a:bodyPr>
          <a:lstStyle/>
          <a:p>
            <a:pPr fontAlgn="t"/>
            <a:r>
              <a:rPr lang="en-US" altLang="zh-CN" sz="28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MLP&amp;GCN</a:t>
            </a:r>
            <a:endParaRPr lang="zh-CN" altLang="en-US" sz="28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椭圆 1"/>
          <p:cNvSpPr>
            <a:spLocks noChangeArrowheads="1"/>
          </p:cNvSpPr>
          <p:nvPr>
            <p:custDataLst>
              <p:tags r:id="rId13"/>
            </p:custDataLst>
          </p:nvPr>
        </p:nvSpPr>
        <p:spPr bwMode="auto">
          <a:xfrm>
            <a:off x="4361355" y="5833553"/>
            <a:ext cx="727831" cy="727831"/>
          </a:xfrm>
          <a:prstGeom prst="roundRect">
            <a:avLst/>
          </a:pr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fontAlgn="t" hangingPunct="1"/>
            <a:endParaRPr lang="zh-CN" altLang="en-US" sz="200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Box 32"/>
          <p:cNvSpPr txBox="1">
            <a:spLocks noChangeArrowheads="1"/>
          </p:cNvSpPr>
          <p:nvPr>
            <p:custDataLst>
              <p:tags r:id="rId14"/>
            </p:custDataLst>
          </p:nvPr>
        </p:nvSpPr>
        <p:spPr bwMode="auto">
          <a:xfrm>
            <a:off x="4424548" y="5911728"/>
            <a:ext cx="594360" cy="5835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t" hangingPunct="1"/>
            <a:r>
              <a:rPr lang="en-US" altLang="zh-CN" sz="3200" dirty="0">
                <a:solidFill>
                  <a:schemeClr val="bg1"/>
                </a:solidFill>
                <a:ea typeface="微软雅黑" panose="020B0503020204020204" pitchFamily="34" charset="-122"/>
              </a:rPr>
              <a:t>05</a:t>
            </a:r>
            <a:endParaRPr lang="zh-CN" altLang="en-US" sz="3200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21" name="TextBox 76"/>
          <p:cNvSpPr txBox="1"/>
          <p:nvPr>
            <p:custDataLst>
              <p:tags r:id="rId15"/>
            </p:custDataLst>
          </p:nvPr>
        </p:nvSpPr>
        <p:spPr>
          <a:xfrm>
            <a:off x="5269419" y="5935858"/>
            <a:ext cx="5115259" cy="521970"/>
          </a:xfrm>
          <a:prstGeom prst="rect">
            <a:avLst/>
          </a:prstGeom>
          <a:solidFill>
            <a:srgbClr val="F1F1F1"/>
          </a:solidFill>
        </p:spPr>
        <p:txBody>
          <a:bodyPr wrap="square" rtlCol="0">
            <a:spAutoFit/>
          </a:bodyPr>
          <a:lstStyle/>
          <a:p>
            <a:pPr fontAlgn="t"/>
            <a:r>
              <a:rPr lang="en-US" altLang="zh-CN" sz="28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GNNs</a:t>
            </a:r>
            <a:r>
              <a:rPr lang="zh-CN" altLang="en-US" sz="28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可解释性的启发</a:t>
            </a:r>
            <a:endParaRPr lang="zh-CN" altLang="en-US" sz="28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16"/>
          <p:cNvSpPr>
            <a:spLocks noChangeShapeType="1"/>
          </p:cNvSpPr>
          <p:nvPr/>
        </p:nvSpPr>
        <p:spPr bwMode="auto">
          <a:xfrm flipH="1">
            <a:off x="3724539" y="-179684"/>
            <a:ext cx="4072921" cy="7040124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Line 18"/>
          <p:cNvSpPr>
            <a:spLocks noChangeShapeType="1"/>
          </p:cNvSpPr>
          <p:nvPr/>
        </p:nvSpPr>
        <p:spPr bwMode="auto">
          <a:xfrm flipH="1" flipV="1">
            <a:off x="1904214" y="-1"/>
            <a:ext cx="6243498" cy="6890832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Line 17"/>
          <p:cNvSpPr>
            <a:spLocks noChangeShapeType="1"/>
          </p:cNvSpPr>
          <p:nvPr/>
        </p:nvSpPr>
        <p:spPr bwMode="auto">
          <a:xfrm>
            <a:off x="0" y="2500664"/>
            <a:ext cx="12192000" cy="3271025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Freeform 5"/>
          <p:cNvSpPr/>
          <p:nvPr/>
        </p:nvSpPr>
        <p:spPr bwMode="auto">
          <a:xfrm>
            <a:off x="2335428" y="0"/>
            <a:ext cx="7521143" cy="6890833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  <a:gd name="connsiteX0" fmla="*/ 4048 w 7779"/>
              <a:gd name="connsiteY0" fmla="*/ 0 h 10000"/>
              <a:gd name="connsiteX1" fmla="*/ 7779 w 7779"/>
              <a:gd name="connsiteY1" fmla="*/ 0 h 10000"/>
              <a:gd name="connsiteX2" fmla="*/ 7779 w 7779"/>
              <a:gd name="connsiteY2" fmla="*/ 10000 h 10000"/>
              <a:gd name="connsiteX3" fmla="*/ 0 w 7779"/>
              <a:gd name="connsiteY3" fmla="*/ 7610 h 10000"/>
              <a:gd name="connsiteX4" fmla="*/ 4048 w 7779"/>
              <a:gd name="connsiteY4" fmla="*/ 0 h 10000"/>
              <a:gd name="connsiteX0-1" fmla="*/ 5204 w 14475"/>
              <a:gd name="connsiteY0-2" fmla="*/ 0 h 9785"/>
              <a:gd name="connsiteX1-3" fmla="*/ 10000 w 14475"/>
              <a:gd name="connsiteY1-4" fmla="*/ 0 h 9785"/>
              <a:gd name="connsiteX2-5" fmla="*/ 14475 w 14475"/>
              <a:gd name="connsiteY2-6" fmla="*/ 9785 h 9785"/>
              <a:gd name="connsiteX3-7" fmla="*/ 0 w 14475"/>
              <a:gd name="connsiteY3-8" fmla="*/ 7610 h 9785"/>
              <a:gd name="connsiteX4-9" fmla="*/ 5204 w 14475"/>
              <a:gd name="connsiteY4-10" fmla="*/ 0 h 9785"/>
              <a:gd name="connsiteX0-11" fmla="*/ 5713 w 12118"/>
              <a:gd name="connsiteY0-12" fmla="*/ 0 h 10000"/>
              <a:gd name="connsiteX1-13" fmla="*/ 9026 w 12118"/>
              <a:gd name="connsiteY1-14" fmla="*/ 0 h 10000"/>
              <a:gd name="connsiteX2-15" fmla="*/ 12118 w 12118"/>
              <a:gd name="connsiteY2-16" fmla="*/ 10000 h 10000"/>
              <a:gd name="connsiteX3-17" fmla="*/ 0 w 12118"/>
              <a:gd name="connsiteY3-18" fmla="*/ 8114 h 10000"/>
              <a:gd name="connsiteX4-19" fmla="*/ 5713 w 12118"/>
              <a:gd name="connsiteY4-20" fmla="*/ 0 h 10000"/>
              <a:gd name="connsiteX0-21" fmla="*/ 6684 w 13089"/>
              <a:gd name="connsiteY0-22" fmla="*/ 0 h 10000"/>
              <a:gd name="connsiteX1-23" fmla="*/ 9997 w 13089"/>
              <a:gd name="connsiteY1-24" fmla="*/ 0 h 10000"/>
              <a:gd name="connsiteX2-25" fmla="*/ 13089 w 13089"/>
              <a:gd name="connsiteY2-26" fmla="*/ 10000 h 10000"/>
              <a:gd name="connsiteX3-27" fmla="*/ 0 w 13089"/>
              <a:gd name="connsiteY3-28" fmla="*/ 8173 h 10000"/>
              <a:gd name="connsiteX4-29" fmla="*/ 6684 w 13089"/>
              <a:gd name="connsiteY4-30" fmla="*/ 0 h 10000"/>
              <a:gd name="connsiteX0-31" fmla="*/ 2369 w 8774"/>
              <a:gd name="connsiteY0-32" fmla="*/ 0 h 10000"/>
              <a:gd name="connsiteX1-33" fmla="*/ 5682 w 8774"/>
              <a:gd name="connsiteY1-34" fmla="*/ 0 h 10000"/>
              <a:gd name="connsiteX2-35" fmla="*/ 8774 w 8774"/>
              <a:gd name="connsiteY2-36" fmla="*/ 10000 h 10000"/>
              <a:gd name="connsiteX3-37" fmla="*/ 0 w 8774"/>
              <a:gd name="connsiteY3-38" fmla="*/ 7222 h 10000"/>
              <a:gd name="connsiteX4-39" fmla="*/ 2369 w 8774"/>
              <a:gd name="connsiteY4-40" fmla="*/ 0 h 10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8774" h="10000">
                <a:moveTo>
                  <a:pt x="2369" y="0"/>
                </a:moveTo>
                <a:lnTo>
                  <a:pt x="5682" y="0"/>
                </a:lnTo>
                <a:lnTo>
                  <a:pt x="8774" y="10000"/>
                </a:lnTo>
                <a:lnTo>
                  <a:pt x="0" y="7222"/>
                </a:lnTo>
                <a:lnTo>
                  <a:pt x="2369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6" name="TextBox 76"/>
          <p:cNvSpPr txBox="1"/>
          <p:nvPr/>
        </p:nvSpPr>
        <p:spPr>
          <a:xfrm>
            <a:off x="4464784" y="1992830"/>
            <a:ext cx="3262432" cy="1015663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第一部分</a:t>
            </a:r>
            <a:endParaRPr lang="zh-CN" altLang="en-US" sz="60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Box 76"/>
          <p:cNvSpPr txBox="1"/>
          <p:nvPr/>
        </p:nvSpPr>
        <p:spPr>
          <a:xfrm>
            <a:off x="4323047" y="3393284"/>
            <a:ext cx="3545903" cy="5835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PyG</a:t>
            </a:r>
            <a:endParaRPr lang="en-US" altLang="zh-CN" sz="32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585" y="173615"/>
            <a:ext cx="99504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PyG</a:t>
            </a:r>
            <a:endParaRPr lang="en-US" altLang="zh-CN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9" name="TextBox 76"/>
          <p:cNvSpPr txBox="1"/>
          <p:nvPr/>
        </p:nvSpPr>
        <p:spPr>
          <a:xfrm>
            <a:off x="7427739" y="769472"/>
            <a:ext cx="4318077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</a:t>
            </a:r>
            <a:endParaRPr lang="en-US" altLang="zh-CN" sz="28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9"/>
          <p:cNvSpPr txBox="1"/>
          <p:nvPr/>
        </p:nvSpPr>
        <p:spPr>
          <a:xfrm>
            <a:off x="6845300" y="1610360"/>
            <a:ext cx="5214620" cy="3148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PyG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是基于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PyTorch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构建的图神经网络库，用于处理结构化数据和图神经网络实现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核心功能：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457200"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提供多种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模型实现（如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GraphSAGE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457200"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支持小批量图数据加载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457200"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包含多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支持和分布式图学习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457200"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提供常用基准数据集接口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核心依赖包：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- torch-cluster; - torch-scatter; - torch-sparse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3.10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Pytorch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版本：最高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2.8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9"/>
          <p:cNvSpPr txBox="1"/>
          <p:nvPr/>
        </p:nvSpPr>
        <p:spPr>
          <a:xfrm>
            <a:off x="-40640" y="5276215"/>
            <a:ext cx="12038965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PyG (PyTorch Geometric) is a library built upon PyTorch to easily write and train Graph Neural Networks (GNNs) for a wide range of applications related to structured data.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Github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链接：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https://github.com/pyg-team/pytorch_geometric?tab=readme-ov-file#installation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6871970" y="1524635"/>
            <a:ext cx="5003800" cy="351091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圆角矩形 14"/>
          <p:cNvSpPr/>
          <p:nvPr/>
        </p:nvSpPr>
        <p:spPr>
          <a:xfrm>
            <a:off x="0" y="5172075"/>
            <a:ext cx="12191365" cy="148590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865" y="1089660"/>
            <a:ext cx="5996940" cy="38112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585" y="173615"/>
            <a:ext cx="5493385" cy="1076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数据集</a:t>
            </a:r>
            <a:r>
              <a:rPr lang="en-US" altLang="zh-CN" sz="32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Zachary's karate club</a:t>
            </a:r>
            <a:endParaRPr lang="en-US" altLang="zh-CN" sz="32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9" name="TextBox 76"/>
          <p:cNvSpPr txBox="1"/>
          <p:nvPr/>
        </p:nvSpPr>
        <p:spPr>
          <a:xfrm>
            <a:off x="7427739" y="769472"/>
            <a:ext cx="4318077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</a:t>
            </a:r>
            <a:endParaRPr lang="en-US" altLang="zh-CN" sz="28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9"/>
          <p:cNvSpPr txBox="1"/>
          <p:nvPr/>
        </p:nvSpPr>
        <p:spPr>
          <a:xfrm>
            <a:off x="6844992" y="1610192"/>
            <a:ext cx="5214928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解决不规则数据结构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图像和文本相对格式都固定，但是社交网络与化学分子等格式肯定不是固定的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模型迭代更新主要基于图中每个节点及其邻居的信息，基本表示如下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9"/>
          <p:cNvSpPr txBox="1"/>
          <p:nvPr/>
        </p:nvSpPr>
        <p:spPr>
          <a:xfrm>
            <a:off x="-40640" y="5276215"/>
            <a:ext cx="12418695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数据集：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Zachary's karate club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论文链接：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https://www.journals.uchicago.edu/doi/abs/10.1086/jar.33.4.3629752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下载链接：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https://www.researchgate.net/publication/248519014_An_Information_Flow_Model_for_Conflict_and_Fission_in_Small_Groups1#read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数据集链接：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https://pytorch-geometric.readthedocs.io/en/latest/modules/datasets.html#torch_geometric.datasets.KarateClub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6871970" y="1524635"/>
            <a:ext cx="5003800" cy="195580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圆角矩形 14"/>
          <p:cNvSpPr/>
          <p:nvPr/>
        </p:nvSpPr>
        <p:spPr>
          <a:xfrm>
            <a:off x="0" y="5172075"/>
            <a:ext cx="12191365" cy="148590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7595" y="2820035"/>
            <a:ext cx="3992880" cy="5969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45415" y="3480435"/>
            <a:ext cx="6337935" cy="14890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lnSpc>
                <a:spcPct val="130000"/>
              </a:lnSpc>
              <a:buClrTx/>
              <a:buSzTx/>
              <a:buNone/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该图描述了一个空手道俱乐部会员的社交关系，以34名会员作为节点，如果两位会员在俱乐部之外仍保持社交关系，则在节点间增加一条边。每个节点具有一个34维的特征向量，一共有78条边。在收集数据的过程中，管理人员JohnA和 教练 MrHi(化名)之间产生了冲突，会员们选择了站队，一半会员跟随 M; Hi成立了新俱乐部，剩下一半会员找了新教练或退出了俱乐部。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870" y="871220"/>
            <a:ext cx="2715895" cy="25457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585" y="173615"/>
            <a:ext cx="6306185" cy="1076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处理数据集</a:t>
            </a:r>
            <a:r>
              <a:rPr lang="en-US" altLang="zh-CN" sz="32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Zachary's karate club</a:t>
            </a:r>
            <a:endParaRPr lang="en-US" altLang="zh-CN" sz="32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9" name="TextBox 76"/>
          <p:cNvSpPr txBox="1"/>
          <p:nvPr/>
        </p:nvSpPr>
        <p:spPr>
          <a:xfrm>
            <a:off x="506874" y="4299437"/>
            <a:ext cx="4318077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一个图、</a:t>
            </a:r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34</a:t>
            </a: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个特征，</a:t>
            </a:r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分类任务</a:t>
            </a:r>
            <a:endParaRPr lang="zh-CN" altLang="en-US" sz="20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9"/>
          <p:cNvSpPr txBox="1"/>
          <p:nvPr/>
        </p:nvSpPr>
        <p:spPr>
          <a:xfrm>
            <a:off x="-40640" y="5276215"/>
            <a:ext cx="12418695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数据集：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Zachary's karate club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论文链接：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https://www.journals.uchicago.edu/doi/abs/10.1086/jar.33.4.3629752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下载链接：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https://www.researchgate.net/publication/248519014_An_Information_Flow_Model_for_Conflict_and_Fission_in_Small_Groups1#read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数据集链接：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https://pytorch-geometric.readthedocs.io/en/latest/modules/datasets.html#torch_geometric.datasets.KarateClub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0" y="5172075"/>
            <a:ext cx="12191365" cy="148590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730" y="1291590"/>
            <a:ext cx="4419600" cy="27813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605" y="2072640"/>
            <a:ext cx="4857750" cy="1219200"/>
          </a:xfrm>
          <a:prstGeom prst="rect">
            <a:avLst/>
          </a:prstGeom>
        </p:spPr>
      </p:pic>
      <p:sp>
        <p:nvSpPr>
          <p:cNvPr id="11" name="TextBox 76"/>
          <p:cNvSpPr txBox="1"/>
          <p:nvPr/>
        </p:nvSpPr>
        <p:spPr>
          <a:xfrm>
            <a:off x="6750194" y="3489812"/>
            <a:ext cx="4318077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[34, 34]--</a:t>
            </a:r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[M,F]</a:t>
            </a:r>
            <a:endParaRPr lang="en-US" altLang="zh-CN" sz="20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M:</a:t>
            </a: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样本个数</a:t>
            </a:r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F:</a:t>
            </a: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特征</a:t>
            </a:r>
            <a:endParaRPr lang="zh-CN" altLang="en-US" sz="20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edge_index</a:t>
            </a: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：图的连接关系</a:t>
            </a:r>
            <a:endParaRPr lang="zh-CN" altLang="en-US" sz="20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585" y="173615"/>
            <a:ext cx="6306185" cy="1076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处理数据集</a:t>
            </a:r>
            <a:r>
              <a:rPr lang="en-US" altLang="zh-CN" sz="32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Zachary's karate club</a:t>
            </a:r>
            <a:endParaRPr lang="en-US" altLang="zh-CN" sz="32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9" name="TextBox 76"/>
          <p:cNvSpPr txBox="1"/>
          <p:nvPr/>
        </p:nvSpPr>
        <p:spPr>
          <a:xfrm>
            <a:off x="241935" y="4504690"/>
            <a:ext cx="656336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16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打印出来的关系，</a:t>
            </a:r>
            <a:r>
              <a:rPr lang="en-US" altLang="zh-CN" sz="16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r>
              <a:rPr lang="zh-CN" altLang="en-US" sz="16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号，</a:t>
            </a:r>
            <a:r>
              <a:rPr lang="en-US" altLang="zh-CN" sz="16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</a:t>
            </a:r>
            <a:r>
              <a:rPr lang="zh-CN" altLang="en-US" sz="16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号一直到</a:t>
            </a:r>
            <a:r>
              <a:rPr lang="en-US" altLang="zh-CN" sz="16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33</a:t>
            </a:r>
            <a:r>
              <a:rPr lang="zh-CN" altLang="en-US" sz="16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号都</a:t>
            </a:r>
            <a:r>
              <a:rPr lang="zh-CN" altLang="en-US" sz="16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与哪些有关系</a:t>
            </a:r>
            <a:endParaRPr lang="zh-CN" altLang="en-US" sz="16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Box 76"/>
          <p:cNvSpPr txBox="1"/>
          <p:nvPr/>
        </p:nvSpPr>
        <p:spPr>
          <a:xfrm>
            <a:off x="6872114" y="4933802"/>
            <a:ext cx="4318077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可视化</a:t>
            </a:r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个分类</a:t>
            </a:r>
            <a:endParaRPr lang="zh-CN" altLang="en-US" sz="20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530" y="818515"/>
            <a:ext cx="2819400" cy="35814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885" y="1266825"/>
            <a:ext cx="1504950" cy="268605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7395" y="500380"/>
            <a:ext cx="3866515" cy="43414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16"/>
          <p:cNvSpPr>
            <a:spLocks noChangeShapeType="1"/>
          </p:cNvSpPr>
          <p:nvPr/>
        </p:nvSpPr>
        <p:spPr bwMode="auto">
          <a:xfrm flipH="1">
            <a:off x="3724539" y="-179684"/>
            <a:ext cx="4072921" cy="7040124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3" name="Line 18"/>
          <p:cNvSpPr>
            <a:spLocks noChangeShapeType="1"/>
          </p:cNvSpPr>
          <p:nvPr/>
        </p:nvSpPr>
        <p:spPr bwMode="auto">
          <a:xfrm flipH="1" flipV="1">
            <a:off x="1904214" y="-1"/>
            <a:ext cx="6243498" cy="6890832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4" name="Line 17"/>
          <p:cNvSpPr>
            <a:spLocks noChangeShapeType="1"/>
          </p:cNvSpPr>
          <p:nvPr/>
        </p:nvSpPr>
        <p:spPr bwMode="auto">
          <a:xfrm>
            <a:off x="0" y="2500664"/>
            <a:ext cx="12192000" cy="3271025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5" name="Freeform 5"/>
          <p:cNvSpPr/>
          <p:nvPr/>
        </p:nvSpPr>
        <p:spPr bwMode="auto">
          <a:xfrm>
            <a:off x="2335428" y="0"/>
            <a:ext cx="7521143" cy="6890833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  <a:gd name="connsiteX0" fmla="*/ 4048 w 7779"/>
              <a:gd name="connsiteY0" fmla="*/ 0 h 10000"/>
              <a:gd name="connsiteX1" fmla="*/ 7779 w 7779"/>
              <a:gd name="connsiteY1" fmla="*/ 0 h 10000"/>
              <a:gd name="connsiteX2" fmla="*/ 7779 w 7779"/>
              <a:gd name="connsiteY2" fmla="*/ 10000 h 10000"/>
              <a:gd name="connsiteX3" fmla="*/ 0 w 7779"/>
              <a:gd name="connsiteY3" fmla="*/ 7610 h 10000"/>
              <a:gd name="connsiteX4" fmla="*/ 4048 w 7779"/>
              <a:gd name="connsiteY4" fmla="*/ 0 h 10000"/>
              <a:gd name="connsiteX0-1" fmla="*/ 5204 w 14475"/>
              <a:gd name="connsiteY0-2" fmla="*/ 0 h 9785"/>
              <a:gd name="connsiteX1-3" fmla="*/ 10000 w 14475"/>
              <a:gd name="connsiteY1-4" fmla="*/ 0 h 9785"/>
              <a:gd name="connsiteX2-5" fmla="*/ 14475 w 14475"/>
              <a:gd name="connsiteY2-6" fmla="*/ 9785 h 9785"/>
              <a:gd name="connsiteX3-7" fmla="*/ 0 w 14475"/>
              <a:gd name="connsiteY3-8" fmla="*/ 7610 h 9785"/>
              <a:gd name="connsiteX4-9" fmla="*/ 5204 w 14475"/>
              <a:gd name="connsiteY4-10" fmla="*/ 0 h 9785"/>
              <a:gd name="connsiteX0-11" fmla="*/ 5713 w 12118"/>
              <a:gd name="connsiteY0-12" fmla="*/ 0 h 10000"/>
              <a:gd name="connsiteX1-13" fmla="*/ 9026 w 12118"/>
              <a:gd name="connsiteY1-14" fmla="*/ 0 h 10000"/>
              <a:gd name="connsiteX2-15" fmla="*/ 12118 w 12118"/>
              <a:gd name="connsiteY2-16" fmla="*/ 10000 h 10000"/>
              <a:gd name="connsiteX3-17" fmla="*/ 0 w 12118"/>
              <a:gd name="connsiteY3-18" fmla="*/ 8114 h 10000"/>
              <a:gd name="connsiteX4-19" fmla="*/ 5713 w 12118"/>
              <a:gd name="connsiteY4-20" fmla="*/ 0 h 10000"/>
              <a:gd name="connsiteX0-21" fmla="*/ 6684 w 13089"/>
              <a:gd name="connsiteY0-22" fmla="*/ 0 h 10000"/>
              <a:gd name="connsiteX1-23" fmla="*/ 9997 w 13089"/>
              <a:gd name="connsiteY1-24" fmla="*/ 0 h 10000"/>
              <a:gd name="connsiteX2-25" fmla="*/ 13089 w 13089"/>
              <a:gd name="connsiteY2-26" fmla="*/ 10000 h 10000"/>
              <a:gd name="connsiteX3-27" fmla="*/ 0 w 13089"/>
              <a:gd name="connsiteY3-28" fmla="*/ 8173 h 10000"/>
              <a:gd name="connsiteX4-29" fmla="*/ 6684 w 13089"/>
              <a:gd name="connsiteY4-30" fmla="*/ 0 h 10000"/>
              <a:gd name="connsiteX0-31" fmla="*/ 2369 w 8774"/>
              <a:gd name="connsiteY0-32" fmla="*/ 0 h 10000"/>
              <a:gd name="connsiteX1-33" fmla="*/ 5682 w 8774"/>
              <a:gd name="connsiteY1-34" fmla="*/ 0 h 10000"/>
              <a:gd name="connsiteX2-35" fmla="*/ 8774 w 8774"/>
              <a:gd name="connsiteY2-36" fmla="*/ 10000 h 10000"/>
              <a:gd name="connsiteX3-37" fmla="*/ 0 w 8774"/>
              <a:gd name="connsiteY3-38" fmla="*/ 7222 h 10000"/>
              <a:gd name="connsiteX4-39" fmla="*/ 2369 w 8774"/>
              <a:gd name="connsiteY4-40" fmla="*/ 0 h 10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8774" h="10000">
                <a:moveTo>
                  <a:pt x="2369" y="0"/>
                </a:moveTo>
                <a:lnTo>
                  <a:pt x="5682" y="0"/>
                </a:lnTo>
                <a:lnTo>
                  <a:pt x="8774" y="10000"/>
                </a:lnTo>
                <a:lnTo>
                  <a:pt x="0" y="7222"/>
                </a:lnTo>
                <a:lnTo>
                  <a:pt x="2369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6" name="TextBox 76"/>
          <p:cNvSpPr txBox="1"/>
          <p:nvPr/>
        </p:nvSpPr>
        <p:spPr>
          <a:xfrm>
            <a:off x="4464784" y="1992830"/>
            <a:ext cx="3262432" cy="1015663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第二部分</a:t>
            </a:r>
            <a:endParaRPr lang="zh-CN" altLang="en-US" sz="6000" dirty="0">
              <a:solidFill>
                <a:prstClr val="white">
                  <a:lumMod val="95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Box 76"/>
          <p:cNvSpPr txBox="1"/>
          <p:nvPr/>
        </p:nvSpPr>
        <p:spPr>
          <a:xfrm>
            <a:off x="4323048" y="3333989"/>
            <a:ext cx="3545903" cy="5835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</a:t>
            </a:r>
            <a:endParaRPr lang="en-US" altLang="zh-CN" sz="3200" dirty="0">
              <a:solidFill>
                <a:prstClr val="white">
                  <a:lumMod val="95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46824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2" name="文本框 9"/>
          <p:cNvSpPr txBox="1"/>
          <p:nvPr/>
        </p:nvSpPr>
        <p:spPr>
          <a:xfrm>
            <a:off x="723900" y="1068705"/>
            <a:ext cx="5445125" cy="4004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 layer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公式：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The graph convolutional operator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（归一化邻接加权）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from the "Semi-supervised Classifcation with Graph 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Convolutional Networks" paper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（论文链接：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https://arxiv.org/abs/1609.02907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Convolutional Layer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from PyG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链接：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https://pytorch-geometric.readthedocs.io/en/latest/modules/nn.html#convolutional-layers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9"/>
          <p:cNvSpPr txBox="1"/>
          <p:nvPr/>
        </p:nvSpPr>
        <p:spPr>
          <a:xfrm>
            <a:off x="6210300" y="4715510"/>
            <a:ext cx="5520055" cy="204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Class GCN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：第一层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输入是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34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维向量，归一化加权聚合（邻接矩阵加权求和），输出每个节点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维向量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lvl="1" indent="457200"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第二层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输入是每个节点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4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维向量，再一次聚合邻居信息（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跳融合更远邻域信息），输出每个节点是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4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维向量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lvl="1" indent="457200"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第三层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GCN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输入是每个节点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4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维向量，再一次聚合邻居信息，输出每个节点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2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维向量，可视化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lvl="1" indent="457200"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6168390" y="4715510"/>
            <a:ext cx="5554345" cy="199834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圆角矩形 10"/>
          <p:cNvSpPr/>
          <p:nvPr/>
        </p:nvSpPr>
        <p:spPr>
          <a:xfrm>
            <a:off x="645160" y="1022985"/>
            <a:ext cx="5524500" cy="384429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5380" y="3502660"/>
            <a:ext cx="1600200" cy="3238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310" y="1492885"/>
            <a:ext cx="2038350" cy="57150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130" y="372110"/>
            <a:ext cx="3712210" cy="4145280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528955" y="5166042"/>
            <a:ext cx="5080000" cy="138366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模型的前向传播（forward）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从输入节点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（特征矩阵）与图的边连接关系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edge_index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即邻接矩阵），通过映射函数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f(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𝑋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𝐴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，经历三层卷积，每一层的操作为归一化的邻域信息聚合，并结合非线性激活函数（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tanh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）逐层生成节点隐藏表示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，最终通过分类器得到节点分类输出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out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409575" y="5133340"/>
            <a:ext cx="5554345" cy="166624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7" name="直接箭头连接符 16"/>
          <p:cNvCxnSpPr/>
          <p:nvPr/>
        </p:nvCxnSpPr>
        <p:spPr>
          <a:xfrm flipH="1">
            <a:off x="5808345" y="3111500"/>
            <a:ext cx="1920875" cy="2017395"/>
          </a:xfrm>
          <a:prstGeom prst="straightConnector1">
            <a:avLst/>
          </a:prstGeom>
          <a:ln w="7620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>
            <a:off x="9928860" y="2324100"/>
            <a:ext cx="644525" cy="2341880"/>
          </a:xfrm>
          <a:prstGeom prst="straightConnector1">
            <a:avLst/>
          </a:prstGeom>
          <a:ln w="7620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585" y="173615"/>
            <a:ext cx="192532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GCN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2" name="文本框 9"/>
          <p:cNvSpPr txBox="1"/>
          <p:nvPr/>
        </p:nvSpPr>
        <p:spPr>
          <a:xfrm>
            <a:off x="5547052" y="1538437"/>
            <a:ext cx="5214928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data.x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：节点特征矩阵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data.edge_index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：边连接关系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h.shape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[34, 2]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（每个节点一个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2D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坐标）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：每个节点的表示向量（二维）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color=data.y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：节点标签，用颜色区分不同类别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社群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9"/>
          <p:cNvSpPr txBox="1"/>
          <p:nvPr/>
        </p:nvSpPr>
        <p:spPr>
          <a:xfrm>
            <a:off x="5130165" y="3653790"/>
            <a:ext cx="6573520" cy="929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这段代码仅执行了模型的前向传播，并未进行训练（未通过反向传播与优化器最小化分类损失）。因此得到的节点嵌入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h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主要由随机初始化参数决定，通常不具备稳定、可解释的类别分离或社群结构表达能力。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5452110" y="1456690"/>
            <a:ext cx="5054600" cy="142875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圆角矩形 9"/>
          <p:cNvSpPr/>
          <p:nvPr/>
        </p:nvSpPr>
        <p:spPr>
          <a:xfrm>
            <a:off x="5130165" y="3654425"/>
            <a:ext cx="6690995" cy="103886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800" y="1341755"/>
            <a:ext cx="4593590" cy="49409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585" y="173615"/>
            <a:ext cx="528129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GCN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semi-supervised</a:t>
            </a:r>
            <a:endParaRPr lang="en-US" altLang="zh-CN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2" name="文本框 9"/>
          <p:cNvSpPr txBox="1"/>
          <p:nvPr/>
        </p:nvSpPr>
        <p:spPr>
          <a:xfrm>
            <a:off x="6606232" y="1341587"/>
            <a:ext cx="5214928" cy="3166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CrossEntropyLoss()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：做节点分类的交叉熵损失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Adam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Adam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优化器更新模型参数，学习率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0.01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optimizer.zero_grad()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：清空上一轮累积的梯度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out, h = model(...)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：前向传播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loss = ...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：半监督节点分类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loss.backward()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：反向传播，计算梯度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optimizer.step()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：更新参数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for epoch in range(401):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训练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401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个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epoch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每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10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个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epoch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画一次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embedding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，并在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x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轴标签显示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epoch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和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loss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9"/>
          <p:cNvSpPr txBox="1"/>
          <p:nvPr/>
        </p:nvSpPr>
        <p:spPr>
          <a:xfrm>
            <a:off x="6724650" y="4508500"/>
            <a:ext cx="4842510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Karate Club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图上训练一个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GCN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做节点分类。训练过程中，每一轮都会根据已标注的训练节点（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train_mask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）计算交叉熵损失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loss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，并用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Adam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更新模型参数，使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loss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逐步下降。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6511290" y="1232535"/>
            <a:ext cx="5054600" cy="303974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圆角矩形 9"/>
          <p:cNvSpPr/>
          <p:nvPr/>
        </p:nvSpPr>
        <p:spPr>
          <a:xfrm>
            <a:off x="6606540" y="4333875"/>
            <a:ext cx="4960620" cy="207772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265" y="867410"/>
            <a:ext cx="5017770" cy="311340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375" y="4563745"/>
            <a:ext cx="1677035" cy="175006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595" y="4578350"/>
            <a:ext cx="1673225" cy="173545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855" y="4578350"/>
            <a:ext cx="1681480" cy="17360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16"/>
          <p:cNvSpPr>
            <a:spLocks noChangeShapeType="1"/>
          </p:cNvSpPr>
          <p:nvPr/>
        </p:nvSpPr>
        <p:spPr bwMode="auto">
          <a:xfrm flipH="1">
            <a:off x="3724539" y="-179684"/>
            <a:ext cx="4072921" cy="7040124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3" name="Line 18"/>
          <p:cNvSpPr>
            <a:spLocks noChangeShapeType="1"/>
          </p:cNvSpPr>
          <p:nvPr/>
        </p:nvSpPr>
        <p:spPr bwMode="auto">
          <a:xfrm flipH="1" flipV="1">
            <a:off x="1904214" y="-1"/>
            <a:ext cx="6243498" cy="6890832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4" name="Line 17"/>
          <p:cNvSpPr>
            <a:spLocks noChangeShapeType="1"/>
          </p:cNvSpPr>
          <p:nvPr/>
        </p:nvSpPr>
        <p:spPr bwMode="auto">
          <a:xfrm>
            <a:off x="0" y="2500664"/>
            <a:ext cx="12192000" cy="3271025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5" name="Freeform 5"/>
          <p:cNvSpPr/>
          <p:nvPr/>
        </p:nvSpPr>
        <p:spPr bwMode="auto">
          <a:xfrm>
            <a:off x="2335428" y="0"/>
            <a:ext cx="7521143" cy="6890833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  <a:gd name="connsiteX0" fmla="*/ 4048 w 7779"/>
              <a:gd name="connsiteY0" fmla="*/ 0 h 10000"/>
              <a:gd name="connsiteX1" fmla="*/ 7779 w 7779"/>
              <a:gd name="connsiteY1" fmla="*/ 0 h 10000"/>
              <a:gd name="connsiteX2" fmla="*/ 7779 w 7779"/>
              <a:gd name="connsiteY2" fmla="*/ 10000 h 10000"/>
              <a:gd name="connsiteX3" fmla="*/ 0 w 7779"/>
              <a:gd name="connsiteY3" fmla="*/ 7610 h 10000"/>
              <a:gd name="connsiteX4" fmla="*/ 4048 w 7779"/>
              <a:gd name="connsiteY4" fmla="*/ 0 h 10000"/>
              <a:gd name="connsiteX0-1" fmla="*/ 5204 w 14475"/>
              <a:gd name="connsiteY0-2" fmla="*/ 0 h 9785"/>
              <a:gd name="connsiteX1-3" fmla="*/ 10000 w 14475"/>
              <a:gd name="connsiteY1-4" fmla="*/ 0 h 9785"/>
              <a:gd name="connsiteX2-5" fmla="*/ 14475 w 14475"/>
              <a:gd name="connsiteY2-6" fmla="*/ 9785 h 9785"/>
              <a:gd name="connsiteX3-7" fmla="*/ 0 w 14475"/>
              <a:gd name="connsiteY3-8" fmla="*/ 7610 h 9785"/>
              <a:gd name="connsiteX4-9" fmla="*/ 5204 w 14475"/>
              <a:gd name="connsiteY4-10" fmla="*/ 0 h 9785"/>
              <a:gd name="connsiteX0-11" fmla="*/ 5713 w 12118"/>
              <a:gd name="connsiteY0-12" fmla="*/ 0 h 10000"/>
              <a:gd name="connsiteX1-13" fmla="*/ 9026 w 12118"/>
              <a:gd name="connsiteY1-14" fmla="*/ 0 h 10000"/>
              <a:gd name="connsiteX2-15" fmla="*/ 12118 w 12118"/>
              <a:gd name="connsiteY2-16" fmla="*/ 10000 h 10000"/>
              <a:gd name="connsiteX3-17" fmla="*/ 0 w 12118"/>
              <a:gd name="connsiteY3-18" fmla="*/ 8114 h 10000"/>
              <a:gd name="connsiteX4-19" fmla="*/ 5713 w 12118"/>
              <a:gd name="connsiteY4-20" fmla="*/ 0 h 10000"/>
              <a:gd name="connsiteX0-21" fmla="*/ 6684 w 13089"/>
              <a:gd name="connsiteY0-22" fmla="*/ 0 h 10000"/>
              <a:gd name="connsiteX1-23" fmla="*/ 9997 w 13089"/>
              <a:gd name="connsiteY1-24" fmla="*/ 0 h 10000"/>
              <a:gd name="connsiteX2-25" fmla="*/ 13089 w 13089"/>
              <a:gd name="connsiteY2-26" fmla="*/ 10000 h 10000"/>
              <a:gd name="connsiteX3-27" fmla="*/ 0 w 13089"/>
              <a:gd name="connsiteY3-28" fmla="*/ 8173 h 10000"/>
              <a:gd name="connsiteX4-29" fmla="*/ 6684 w 13089"/>
              <a:gd name="connsiteY4-30" fmla="*/ 0 h 10000"/>
              <a:gd name="connsiteX0-31" fmla="*/ 2369 w 8774"/>
              <a:gd name="connsiteY0-32" fmla="*/ 0 h 10000"/>
              <a:gd name="connsiteX1-33" fmla="*/ 5682 w 8774"/>
              <a:gd name="connsiteY1-34" fmla="*/ 0 h 10000"/>
              <a:gd name="connsiteX2-35" fmla="*/ 8774 w 8774"/>
              <a:gd name="connsiteY2-36" fmla="*/ 10000 h 10000"/>
              <a:gd name="connsiteX3-37" fmla="*/ 0 w 8774"/>
              <a:gd name="connsiteY3-38" fmla="*/ 7222 h 10000"/>
              <a:gd name="connsiteX4-39" fmla="*/ 2369 w 8774"/>
              <a:gd name="connsiteY4-40" fmla="*/ 0 h 10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8774" h="10000">
                <a:moveTo>
                  <a:pt x="2369" y="0"/>
                </a:moveTo>
                <a:lnTo>
                  <a:pt x="5682" y="0"/>
                </a:lnTo>
                <a:lnTo>
                  <a:pt x="8774" y="10000"/>
                </a:lnTo>
                <a:lnTo>
                  <a:pt x="0" y="7222"/>
                </a:lnTo>
                <a:lnTo>
                  <a:pt x="2369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6" name="TextBox 76"/>
          <p:cNvSpPr txBox="1"/>
          <p:nvPr/>
        </p:nvSpPr>
        <p:spPr>
          <a:xfrm>
            <a:off x="4480560" y="1992830"/>
            <a:ext cx="3230880" cy="101473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</a:t>
            </a:r>
            <a:r>
              <a:rPr lang="zh-CN" altLang="en-US" sz="60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三部分</a:t>
            </a:r>
            <a:endParaRPr lang="zh-CN" altLang="en-US" sz="6000" dirty="0">
              <a:solidFill>
                <a:prstClr val="white">
                  <a:lumMod val="95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Box 76"/>
          <p:cNvSpPr txBox="1"/>
          <p:nvPr/>
        </p:nvSpPr>
        <p:spPr>
          <a:xfrm>
            <a:off x="4323048" y="3333989"/>
            <a:ext cx="3545903" cy="5835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点的分类</a:t>
            </a:r>
            <a:r>
              <a:rPr lang="en-US" altLang="zh-CN" sz="32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en-US" altLang="zh-CN" sz="32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Cora</a:t>
            </a:r>
            <a:endParaRPr lang="en-US" altLang="zh-CN" sz="3200" dirty="0">
              <a:solidFill>
                <a:prstClr val="white">
                  <a:lumMod val="95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421005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点的分类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-Cora</a:t>
            </a:r>
            <a:endParaRPr lang="en-US" altLang="zh-CN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9" name="TextBox 76"/>
          <p:cNvSpPr txBox="1"/>
          <p:nvPr/>
        </p:nvSpPr>
        <p:spPr>
          <a:xfrm>
            <a:off x="1272049" y="643107"/>
            <a:ext cx="4318077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数据集</a:t>
            </a:r>
            <a:endParaRPr lang="zh-CN" altLang="en-US" sz="28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9"/>
          <p:cNvSpPr txBox="1"/>
          <p:nvPr/>
        </p:nvSpPr>
        <p:spPr>
          <a:xfrm>
            <a:off x="1024255" y="1367790"/>
            <a:ext cx="4937125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Cora dataset(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数据集描述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:Yang_et al. (2016))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论文引用数据集，一个图（包含</a:t>
            </a:r>
            <a:r>
              <a:rPr 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所有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论文），每一个点（每一篇论文）有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1433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维向量，最终要对每个点进行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分类任务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每个类别只有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个点有标注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9"/>
          <p:cNvSpPr txBox="1"/>
          <p:nvPr/>
        </p:nvSpPr>
        <p:spPr>
          <a:xfrm>
            <a:off x="803275" y="5800090"/>
            <a:ext cx="5202555" cy="650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数据集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Github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链接：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https://github.com/kimiyoung/planetoid/tree/master/data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670675" y="4811395"/>
            <a:ext cx="5121910" cy="11036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2708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篇论文，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1433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向量，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10556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条边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这里加载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Cora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Planetoid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）图数据集并做特征归一化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打印数据集规模与图结构统计信息（节点数、边数、特征维度、类别数、训练掩码比例及孤立点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自环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无向性等）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880745" y="1165225"/>
            <a:ext cx="5124450" cy="438023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圆角矩形 13"/>
          <p:cNvSpPr/>
          <p:nvPr/>
        </p:nvSpPr>
        <p:spPr>
          <a:xfrm>
            <a:off x="846455" y="5667375"/>
            <a:ext cx="5158740" cy="92075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圆角矩形 14"/>
          <p:cNvSpPr/>
          <p:nvPr/>
        </p:nvSpPr>
        <p:spPr>
          <a:xfrm>
            <a:off x="6670675" y="4811395"/>
            <a:ext cx="5124450" cy="149098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1905" y="3587115"/>
            <a:ext cx="4191000" cy="91440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9880" y="499110"/>
            <a:ext cx="5445125" cy="4043045"/>
          </a:xfrm>
          <a:prstGeom prst="rect">
            <a:avLst/>
          </a:prstGeom>
        </p:spPr>
      </p:pic>
      <p:cxnSp>
        <p:nvCxnSpPr>
          <p:cNvPr id="17" name="直接箭头连接符 16"/>
          <p:cNvCxnSpPr/>
          <p:nvPr/>
        </p:nvCxnSpPr>
        <p:spPr>
          <a:xfrm flipH="1">
            <a:off x="4294505" y="1882775"/>
            <a:ext cx="2365375" cy="918210"/>
          </a:xfrm>
          <a:prstGeom prst="straightConnector1">
            <a:avLst/>
          </a:prstGeom>
          <a:ln w="7620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7755" y="2577465"/>
            <a:ext cx="1936750" cy="1009650"/>
          </a:xfrm>
          <a:prstGeom prst="rect">
            <a:avLst/>
          </a:prstGeom>
        </p:spPr>
      </p:pic>
      <p:cxnSp>
        <p:nvCxnSpPr>
          <p:cNvPr id="19" name="直接箭头连接符 18"/>
          <p:cNvCxnSpPr/>
          <p:nvPr/>
        </p:nvCxnSpPr>
        <p:spPr>
          <a:xfrm flipH="1">
            <a:off x="5462905" y="3587750"/>
            <a:ext cx="1202690" cy="333375"/>
          </a:xfrm>
          <a:prstGeom prst="straightConnector1">
            <a:avLst/>
          </a:prstGeom>
          <a:ln w="7620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20" name="图片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0725" y="4534535"/>
            <a:ext cx="2905125" cy="952500"/>
          </a:xfrm>
          <a:prstGeom prst="rect">
            <a:avLst/>
          </a:prstGeom>
        </p:spPr>
      </p:pic>
      <p:cxnSp>
        <p:nvCxnSpPr>
          <p:cNvPr id="21" name="直接箭头连接符 20"/>
          <p:cNvCxnSpPr/>
          <p:nvPr/>
        </p:nvCxnSpPr>
        <p:spPr>
          <a:xfrm flipH="1">
            <a:off x="4895850" y="4258945"/>
            <a:ext cx="1774825" cy="782320"/>
          </a:xfrm>
          <a:prstGeom prst="straightConnector1">
            <a:avLst/>
          </a:prstGeom>
          <a:ln w="7620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16"/>
          <p:cNvSpPr>
            <a:spLocks noChangeShapeType="1"/>
          </p:cNvSpPr>
          <p:nvPr/>
        </p:nvSpPr>
        <p:spPr bwMode="auto">
          <a:xfrm flipH="1">
            <a:off x="3724539" y="-179684"/>
            <a:ext cx="4072921" cy="7040124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3" name="Line 18"/>
          <p:cNvSpPr>
            <a:spLocks noChangeShapeType="1"/>
          </p:cNvSpPr>
          <p:nvPr/>
        </p:nvSpPr>
        <p:spPr bwMode="auto">
          <a:xfrm flipH="1" flipV="1">
            <a:off x="1904214" y="-1"/>
            <a:ext cx="6243498" cy="6890832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4" name="Line 17"/>
          <p:cNvSpPr>
            <a:spLocks noChangeShapeType="1"/>
          </p:cNvSpPr>
          <p:nvPr/>
        </p:nvSpPr>
        <p:spPr bwMode="auto">
          <a:xfrm>
            <a:off x="0" y="2500664"/>
            <a:ext cx="12192000" cy="3271025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5" name="Freeform 5"/>
          <p:cNvSpPr/>
          <p:nvPr/>
        </p:nvSpPr>
        <p:spPr bwMode="auto">
          <a:xfrm>
            <a:off x="2335428" y="0"/>
            <a:ext cx="7521143" cy="6890833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  <a:gd name="connsiteX0" fmla="*/ 4048 w 7779"/>
              <a:gd name="connsiteY0" fmla="*/ 0 h 10000"/>
              <a:gd name="connsiteX1" fmla="*/ 7779 w 7779"/>
              <a:gd name="connsiteY1" fmla="*/ 0 h 10000"/>
              <a:gd name="connsiteX2" fmla="*/ 7779 w 7779"/>
              <a:gd name="connsiteY2" fmla="*/ 10000 h 10000"/>
              <a:gd name="connsiteX3" fmla="*/ 0 w 7779"/>
              <a:gd name="connsiteY3" fmla="*/ 7610 h 10000"/>
              <a:gd name="connsiteX4" fmla="*/ 4048 w 7779"/>
              <a:gd name="connsiteY4" fmla="*/ 0 h 10000"/>
              <a:gd name="connsiteX0-1" fmla="*/ 5204 w 14475"/>
              <a:gd name="connsiteY0-2" fmla="*/ 0 h 9785"/>
              <a:gd name="connsiteX1-3" fmla="*/ 10000 w 14475"/>
              <a:gd name="connsiteY1-4" fmla="*/ 0 h 9785"/>
              <a:gd name="connsiteX2-5" fmla="*/ 14475 w 14475"/>
              <a:gd name="connsiteY2-6" fmla="*/ 9785 h 9785"/>
              <a:gd name="connsiteX3-7" fmla="*/ 0 w 14475"/>
              <a:gd name="connsiteY3-8" fmla="*/ 7610 h 9785"/>
              <a:gd name="connsiteX4-9" fmla="*/ 5204 w 14475"/>
              <a:gd name="connsiteY4-10" fmla="*/ 0 h 9785"/>
              <a:gd name="connsiteX0-11" fmla="*/ 5713 w 12118"/>
              <a:gd name="connsiteY0-12" fmla="*/ 0 h 10000"/>
              <a:gd name="connsiteX1-13" fmla="*/ 9026 w 12118"/>
              <a:gd name="connsiteY1-14" fmla="*/ 0 h 10000"/>
              <a:gd name="connsiteX2-15" fmla="*/ 12118 w 12118"/>
              <a:gd name="connsiteY2-16" fmla="*/ 10000 h 10000"/>
              <a:gd name="connsiteX3-17" fmla="*/ 0 w 12118"/>
              <a:gd name="connsiteY3-18" fmla="*/ 8114 h 10000"/>
              <a:gd name="connsiteX4-19" fmla="*/ 5713 w 12118"/>
              <a:gd name="connsiteY4-20" fmla="*/ 0 h 10000"/>
              <a:gd name="connsiteX0-21" fmla="*/ 6684 w 13089"/>
              <a:gd name="connsiteY0-22" fmla="*/ 0 h 10000"/>
              <a:gd name="connsiteX1-23" fmla="*/ 9997 w 13089"/>
              <a:gd name="connsiteY1-24" fmla="*/ 0 h 10000"/>
              <a:gd name="connsiteX2-25" fmla="*/ 13089 w 13089"/>
              <a:gd name="connsiteY2-26" fmla="*/ 10000 h 10000"/>
              <a:gd name="connsiteX3-27" fmla="*/ 0 w 13089"/>
              <a:gd name="connsiteY3-28" fmla="*/ 8173 h 10000"/>
              <a:gd name="connsiteX4-29" fmla="*/ 6684 w 13089"/>
              <a:gd name="connsiteY4-30" fmla="*/ 0 h 10000"/>
              <a:gd name="connsiteX0-31" fmla="*/ 2369 w 8774"/>
              <a:gd name="connsiteY0-32" fmla="*/ 0 h 10000"/>
              <a:gd name="connsiteX1-33" fmla="*/ 5682 w 8774"/>
              <a:gd name="connsiteY1-34" fmla="*/ 0 h 10000"/>
              <a:gd name="connsiteX2-35" fmla="*/ 8774 w 8774"/>
              <a:gd name="connsiteY2-36" fmla="*/ 10000 h 10000"/>
              <a:gd name="connsiteX3-37" fmla="*/ 0 w 8774"/>
              <a:gd name="connsiteY3-38" fmla="*/ 7222 h 10000"/>
              <a:gd name="connsiteX4-39" fmla="*/ 2369 w 8774"/>
              <a:gd name="connsiteY4-40" fmla="*/ 0 h 10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8774" h="10000">
                <a:moveTo>
                  <a:pt x="2369" y="0"/>
                </a:moveTo>
                <a:lnTo>
                  <a:pt x="5682" y="0"/>
                </a:lnTo>
                <a:lnTo>
                  <a:pt x="8774" y="10000"/>
                </a:lnTo>
                <a:lnTo>
                  <a:pt x="0" y="7222"/>
                </a:lnTo>
                <a:lnTo>
                  <a:pt x="2369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6" name="TextBox 76"/>
          <p:cNvSpPr txBox="1"/>
          <p:nvPr/>
        </p:nvSpPr>
        <p:spPr>
          <a:xfrm>
            <a:off x="4480560" y="1992830"/>
            <a:ext cx="3230880" cy="101473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</a:t>
            </a:r>
            <a:r>
              <a:rPr lang="zh-CN" altLang="en-US" sz="60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四部分</a:t>
            </a:r>
            <a:endParaRPr lang="zh-CN" altLang="en-US" sz="6000" dirty="0">
              <a:solidFill>
                <a:prstClr val="white">
                  <a:lumMod val="95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Box 76"/>
          <p:cNvSpPr txBox="1"/>
          <p:nvPr/>
        </p:nvSpPr>
        <p:spPr>
          <a:xfrm>
            <a:off x="4323048" y="3333989"/>
            <a:ext cx="3545903" cy="5835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对比</a:t>
            </a:r>
            <a:r>
              <a:rPr lang="en-US" altLang="zh-CN" sz="32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-MLP&amp;GCN</a:t>
            </a:r>
            <a:endParaRPr lang="en-US" altLang="zh-CN" sz="3200" dirty="0">
              <a:solidFill>
                <a:prstClr val="white">
                  <a:lumMod val="95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995934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传统的全连接层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(Multi-layer Perception Network)</a:t>
            </a:r>
            <a:endParaRPr lang="en-US" altLang="zh-CN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9" name="TextBox 76"/>
          <p:cNvSpPr txBox="1"/>
          <p:nvPr/>
        </p:nvSpPr>
        <p:spPr>
          <a:xfrm>
            <a:off x="1228869" y="756772"/>
            <a:ext cx="4318077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MLP</a:t>
            </a:r>
            <a:endParaRPr lang="en-US" altLang="zh-CN" sz="28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9"/>
          <p:cNvSpPr txBox="1"/>
          <p:nvPr/>
        </p:nvSpPr>
        <p:spPr>
          <a:xfrm>
            <a:off x="799465" y="3002280"/>
            <a:ext cx="4956810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第一层全连接层：把输入特征从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dataset.num_features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1433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）映射到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hidden_channels</a:t>
            </a:r>
            <a:r>
              <a:rPr 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16-</a:t>
            </a:r>
            <a:r>
              <a:rPr 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第二层全连接层：把隐藏层从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hidden_channels </a:t>
            </a:r>
            <a:r>
              <a:rPr 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16</a:t>
            </a:r>
            <a:r>
              <a:rPr 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映射到类别数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dataset.num_classes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758190" y="3011805"/>
            <a:ext cx="5124450" cy="113728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5875" y="814070"/>
            <a:ext cx="5715000" cy="4667250"/>
          </a:xfrm>
          <a:prstGeom prst="rect">
            <a:avLst/>
          </a:prstGeom>
        </p:spPr>
      </p:pic>
      <p:sp>
        <p:nvSpPr>
          <p:cNvPr id="16" name="圆角矩形 15"/>
          <p:cNvSpPr/>
          <p:nvPr/>
        </p:nvSpPr>
        <p:spPr>
          <a:xfrm>
            <a:off x="758190" y="1278890"/>
            <a:ext cx="5124450" cy="161226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7" name="直接箭头连接符 16"/>
          <p:cNvCxnSpPr>
            <a:endCxn id="11" idx="3"/>
          </p:cNvCxnSpPr>
          <p:nvPr/>
        </p:nvCxnSpPr>
        <p:spPr>
          <a:xfrm flipH="1">
            <a:off x="5882640" y="2289810"/>
            <a:ext cx="1327150" cy="1290955"/>
          </a:xfrm>
          <a:prstGeom prst="straightConnector1">
            <a:avLst/>
          </a:prstGeom>
          <a:ln w="7620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文本框 9"/>
          <p:cNvSpPr txBox="1"/>
          <p:nvPr/>
        </p:nvSpPr>
        <p:spPr>
          <a:xfrm>
            <a:off x="846455" y="4394835"/>
            <a:ext cx="4956810" cy="12598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非线性激活：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ReLU(t)=max(0,t)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增加模型表达能力，使模型不再是纯线性映射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Dropout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：训练时随机把一部分神经元置零，防止过拟合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758190" y="4306570"/>
            <a:ext cx="5124450" cy="113728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9"/>
          <p:cNvSpPr txBox="1"/>
          <p:nvPr/>
        </p:nvSpPr>
        <p:spPr>
          <a:xfrm>
            <a:off x="799465" y="1331595"/>
            <a:ext cx="4956810" cy="160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两层的多层感知机（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MLP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），用于做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节点分类：给每个节点的特征向量（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1433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维），输出该节点属于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7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个类别的得分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每个节点独立分类，只用自己的特征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，不利用图结构，节点之间不发生信息传播，即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只看节点自身特征，不看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edge_index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847725" y="5734367"/>
            <a:ext cx="5080000" cy="521970"/>
          </a:xfrm>
          <a:prstGeom prst="rect">
            <a:avLst/>
          </a:prstGeom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hidden_channels 是超参数，16 是常用的基线设置，用于在性能与复杂度之间取得折中，并便于复现实验与公平对比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758190" y="5580380"/>
            <a:ext cx="5124450" cy="68262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995934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传统的全连接层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(Multi-layer Perception Network)</a:t>
            </a:r>
            <a:endParaRPr lang="en-US" altLang="zh-CN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20" name="文本框 9"/>
          <p:cNvSpPr txBox="1"/>
          <p:nvPr/>
        </p:nvSpPr>
        <p:spPr>
          <a:xfrm>
            <a:off x="2084070" y="4548505"/>
            <a:ext cx="3945890" cy="12598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只用节点特征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data.x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作为输入（不使用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edge_index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）。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train_mask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指定的少量训练节点上计算交叉熵损失并更新参数。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循环训练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200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epoch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，并打印每轮的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loss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2084070" y="4452620"/>
            <a:ext cx="4024630" cy="185610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6694170" y="4026852"/>
            <a:ext cx="5080000" cy="1383665"/>
          </a:xfrm>
          <a:prstGeom prst="rect">
            <a:avLst/>
          </a:prstGeom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在训练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200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轮后，再在测试集上做一次最终评估并输出最终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Test Accuracy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Test Accuracy:0.5740</a:t>
            </a:r>
            <a:r>
              <a:rPr lang="zh-CN" altLang="en-US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即测试集中约</a:t>
            </a:r>
            <a:r>
              <a:rPr lang="en-US" altLang="zh-CN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57.40% </a:t>
            </a:r>
            <a:r>
              <a:rPr lang="zh-CN" altLang="en-US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的节点被正确分类</a:t>
            </a:r>
            <a:endParaRPr lang="en-US" altLang="zh-CN" sz="14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4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6649720" y="3940175"/>
            <a:ext cx="5124450" cy="135382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060" y="845185"/>
            <a:ext cx="5768340" cy="332486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60" y="4548505"/>
            <a:ext cx="1623695" cy="132715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900" y="2251075"/>
            <a:ext cx="3429000" cy="11239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1166177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传统的全连接层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(Multi-layer Perception Network)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2" name="文本框 9"/>
          <p:cNvSpPr txBox="1"/>
          <p:nvPr/>
        </p:nvSpPr>
        <p:spPr>
          <a:xfrm>
            <a:off x="887095" y="2800350"/>
            <a:ext cx="5109210" cy="204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使用训练后的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MLP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对所有节点特征矩阵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进行推理，得到每个节点的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7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类分类得分（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logits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）。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对输出进行二维可视化后，可以观察到整体上仍能形成大致对应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类的聚集区域，说明模型从节点特征中学习到一定的类别区分能力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但不同类别之间的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重叠与交叉较为明显，表明仅依赖节点自身特征时，部分相近类别在表示空间中仍难以充分分离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921385" y="2800350"/>
            <a:ext cx="5124450" cy="223075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758190"/>
            <a:ext cx="5204460" cy="579310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1166177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Graph Neural Network (GNN)</a:t>
            </a:r>
            <a:endParaRPr lang="en-US" altLang="zh-CN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将全连接层替换成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2" name="文本框 9"/>
          <p:cNvSpPr txBox="1"/>
          <p:nvPr/>
        </p:nvSpPr>
        <p:spPr>
          <a:xfrm>
            <a:off x="846455" y="1367790"/>
            <a:ext cx="5418455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：第一层图卷积，把每个节点的特征从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1433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维映射到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16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维，同时融合邻居信息。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conv2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：第二层图卷积，把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16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维隐藏表示映射到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7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个类别空间，同样融合邻居信息。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9"/>
          <p:cNvSpPr txBox="1"/>
          <p:nvPr/>
        </p:nvSpPr>
        <p:spPr>
          <a:xfrm>
            <a:off x="880745" y="3105150"/>
            <a:ext cx="5074285" cy="1489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：节点特征矩阵，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Cora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典型形状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[2708, 1433]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edge_index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：图的边连接关系（稀疏边表）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每一层都会利用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edge_index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把邻居信息聚合进来，即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每个节点把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自己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邻居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的特征按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GCN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的归一化规则做加权聚合，再做线性变换，得到新的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16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维表示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880745" y="1367790"/>
            <a:ext cx="5124450" cy="135572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圆角矩形 13"/>
          <p:cNvSpPr/>
          <p:nvPr/>
        </p:nvSpPr>
        <p:spPr>
          <a:xfrm>
            <a:off x="786130" y="3032760"/>
            <a:ext cx="5218430" cy="156146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4910" y="1193165"/>
            <a:ext cx="6076950" cy="4648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1166177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Graph Neural Network (GNN)</a:t>
            </a:r>
            <a:endParaRPr lang="en-US" altLang="zh-CN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将全连接层替换成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2" name="文本框 9"/>
          <p:cNvSpPr txBox="1"/>
          <p:nvPr/>
        </p:nvSpPr>
        <p:spPr>
          <a:xfrm>
            <a:off x="887095" y="2800350"/>
            <a:ext cx="5109210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在评估模式下用随机初始化的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GCN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对全图做一次前向传播，得到每个节点的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7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logits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，并把这些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logits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按真实标签上色进行可视化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大家都聚集在一起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921385" y="2800350"/>
            <a:ext cx="5124450" cy="135572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9565" y="757555"/>
            <a:ext cx="5064760" cy="58293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995934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Graph Neural Network (GNN)</a:t>
            </a:r>
            <a:endParaRPr lang="en-US" altLang="zh-CN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将全连接层替换成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GCN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层</a:t>
            </a:r>
            <a:endParaRPr lang="en-US" altLang="zh-CN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20" name="文本框 9"/>
          <p:cNvSpPr txBox="1"/>
          <p:nvPr/>
        </p:nvSpPr>
        <p:spPr>
          <a:xfrm>
            <a:off x="2084070" y="4548505"/>
            <a:ext cx="3945890" cy="15582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通过最小化训练节点上的交叉熵损失来优化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GCN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参数，使模型学会利用图结构（邻域聚合）进行节点分类；训练过程中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loss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下降表示拟合在改善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循环训练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200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epoch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，并打印每轮的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loss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2084070" y="4452620"/>
            <a:ext cx="4024630" cy="185610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6694170" y="4026852"/>
            <a:ext cx="5080000" cy="1814830"/>
          </a:xfrm>
          <a:prstGeom prst="rect">
            <a:avLst/>
          </a:prstGeom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在训练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200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轮后，再在测试集上做一次最终评估并输出最终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Test Accuracy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Test Accuracy:0.8140</a:t>
            </a:r>
            <a:r>
              <a:rPr lang="zh-CN" altLang="en-US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，即测试集中约</a:t>
            </a:r>
            <a:r>
              <a:rPr lang="en-US" altLang="zh-CN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81.40% </a:t>
            </a:r>
            <a:r>
              <a:rPr lang="zh-CN" altLang="en-US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的节点被正确分类</a:t>
            </a:r>
            <a:endParaRPr lang="zh-CN" altLang="en-US" sz="14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14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</a:t>
            </a:r>
            <a:r>
              <a:rPr lang="en-US" altLang="zh-CN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59.4%</a:t>
            </a:r>
            <a:r>
              <a:rPr lang="zh-CN" altLang="en-US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准确率上升到</a:t>
            </a:r>
            <a:r>
              <a:rPr lang="en-US" altLang="zh-CN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81.4%</a:t>
            </a:r>
            <a:endParaRPr lang="zh-CN" altLang="en-US" sz="14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4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6649720" y="3940175"/>
            <a:ext cx="5124450" cy="196723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145" y="1249680"/>
            <a:ext cx="5328285" cy="302641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10" y="4610735"/>
            <a:ext cx="1689100" cy="14668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8065" y="2381250"/>
            <a:ext cx="3314700" cy="104775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585" y="173615"/>
            <a:ext cx="6262370" cy="1076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Graph Neural Network (GNN)</a:t>
            </a:r>
            <a:endParaRPr lang="en-US" altLang="zh-CN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将全连接层替换成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GCN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层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2" name="文本框 9"/>
          <p:cNvSpPr txBox="1"/>
          <p:nvPr>
            <p:custDataLst>
              <p:tags r:id="rId1"/>
            </p:custDataLst>
          </p:nvPr>
        </p:nvSpPr>
        <p:spPr>
          <a:xfrm>
            <a:off x="1116330" y="1993265"/>
            <a:ext cx="4345305" cy="929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这是用训练好的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GCN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在评估模式下输出每个节点的分类得分，并将这些高维输出按真实类别着色可视化，以观察类别分离效果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10"/>
          <p:cNvSpPr/>
          <p:nvPr>
            <p:custDataLst>
              <p:tags r:id="rId2"/>
            </p:custDataLst>
          </p:nvPr>
        </p:nvSpPr>
        <p:spPr>
          <a:xfrm>
            <a:off x="1116330" y="1993265"/>
            <a:ext cx="4420235" cy="105791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610" y="741045"/>
            <a:ext cx="5226685" cy="578358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1162050" y="3681730"/>
            <a:ext cx="4345305" cy="929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同一类别（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类之一）的论文节点更可能聚成簇，不同类别之间的簇相对分离，因此整体分布不再像随机初始化时那样杂乱无章、到处散点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5"/>
            </p:custDataLst>
          </p:nvPr>
        </p:nvSpPr>
        <p:spPr>
          <a:xfrm>
            <a:off x="1162050" y="3681730"/>
            <a:ext cx="4420235" cy="105791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16"/>
          <p:cNvSpPr>
            <a:spLocks noChangeShapeType="1"/>
          </p:cNvSpPr>
          <p:nvPr/>
        </p:nvSpPr>
        <p:spPr bwMode="auto">
          <a:xfrm flipH="1">
            <a:off x="3724539" y="-179684"/>
            <a:ext cx="4072921" cy="7040124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3" name="Line 18"/>
          <p:cNvSpPr>
            <a:spLocks noChangeShapeType="1"/>
          </p:cNvSpPr>
          <p:nvPr/>
        </p:nvSpPr>
        <p:spPr bwMode="auto">
          <a:xfrm flipH="1" flipV="1">
            <a:off x="1904214" y="-1"/>
            <a:ext cx="6243498" cy="6890832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4" name="Line 17"/>
          <p:cNvSpPr>
            <a:spLocks noChangeShapeType="1"/>
          </p:cNvSpPr>
          <p:nvPr/>
        </p:nvSpPr>
        <p:spPr bwMode="auto">
          <a:xfrm>
            <a:off x="0" y="2500664"/>
            <a:ext cx="12192000" cy="3271025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5" name="Freeform 5"/>
          <p:cNvSpPr/>
          <p:nvPr/>
        </p:nvSpPr>
        <p:spPr bwMode="auto">
          <a:xfrm>
            <a:off x="2335428" y="0"/>
            <a:ext cx="7521143" cy="6890833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  <a:gd name="connsiteX0" fmla="*/ 4048 w 7779"/>
              <a:gd name="connsiteY0" fmla="*/ 0 h 10000"/>
              <a:gd name="connsiteX1" fmla="*/ 7779 w 7779"/>
              <a:gd name="connsiteY1" fmla="*/ 0 h 10000"/>
              <a:gd name="connsiteX2" fmla="*/ 7779 w 7779"/>
              <a:gd name="connsiteY2" fmla="*/ 10000 h 10000"/>
              <a:gd name="connsiteX3" fmla="*/ 0 w 7779"/>
              <a:gd name="connsiteY3" fmla="*/ 7610 h 10000"/>
              <a:gd name="connsiteX4" fmla="*/ 4048 w 7779"/>
              <a:gd name="connsiteY4" fmla="*/ 0 h 10000"/>
              <a:gd name="connsiteX0-1" fmla="*/ 5204 w 14475"/>
              <a:gd name="connsiteY0-2" fmla="*/ 0 h 9785"/>
              <a:gd name="connsiteX1-3" fmla="*/ 10000 w 14475"/>
              <a:gd name="connsiteY1-4" fmla="*/ 0 h 9785"/>
              <a:gd name="connsiteX2-5" fmla="*/ 14475 w 14475"/>
              <a:gd name="connsiteY2-6" fmla="*/ 9785 h 9785"/>
              <a:gd name="connsiteX3-7" fmla="*/ 0 w 14475"/>
              <a:gd name="connsiteY3-8" fmla="*/ 7610 h 9785"/>
              <a:gd name="connsiteX4-9" fmla="*/ 5204 w 14475"/>
              <a:gd name="connsiteY4-10" fmla="*/ 0 h 9785"/>
              <a:gd name="connsiteX0-11" fmla="*/ 5713 w 12118"/>
              <a:gd name="connsiteY0-12" fmla="*/ 0 h 10000"/>
              <a:gd name="connsiteX1-13" fmla="*/ 9026 w 12118"/>
              <a:gd name="connsiteY1-14" fmla="*/ 0 h 10000"/>
              <a:gd name="connsiteX2-15" fmla="*/ 12118 w 12118"/>
              <a:gd name="connsiteY2-16" fmla="*/ 10000 h 10000"/>
              <a:gd name="connsiteX3-17" fmla="*/ 0 w 12118"/>
              <a:gd name="connsiteY3-18" fmla="*/ 8114 h 10000"/>
              <a:gd name="connsiteX4-19" fmla="*/ 5713 w 12118"/>
              <a:gd name="connsiteY4-20" fmla="*/ 0 h 10000"/>
              <a:gd name="connsiteX0-21" fmla="*/ 6684 w 13089"/>
              <a:gd name="connsiteY0-22" fmla="*/ 0 h 10000"/>
              <a:gd name="connsiteX1-23" fmla="*/ 9997 w 13089"/>
              <a:gd name="connsiteY1-24" fmla="*/ 0 h 10000"/>
              <a:gd name="connsiteX2-25" fmla="*/ 13089 w 13089"/>
              <a:gd name="connsiteY2-26" fmla="*/ 10000 h 10000"/>
              <a:gd name="connsiteX3-27" fmla="*/ 0 w 13089"/>
              <a:gd name="connsiteY3-28" fmla="*/ 8173 h 10000"/>
              <a:gd name="connsiteX4-29" fmla="*/ 6684 w 13089"/>
              <a:gd name="connsiteY4-30" fmla="*/ 0 h 10000"/>
              <a:gd name="connsiteX0-31" fmla="*/ 2369 w 8774"/>
              <a:gd name="connsiteY0-32" fmla="*/ 0 h 10000"/>
              <a:gd name="connsiteX1-33" fmla="*/ 5682 w 8774"/>
              <a:gd name="connsiteY1-34" fmla="*/ 0 h 10000"/>
              <a:gd name="connsiteX2-35" fmla="*/ 8774 w 8774"/>
              <a:gd name="connsiteY2-36" fmla="*/ 10000 h 10000"/>
              <a:gd name="connsiteX3-37" fmla="*/ 0 w 8774"/>
              <a:gd name="connsiteY3-38" fmla="*/ 7222 h 10000"/>
              <a:gd name="connsiteX4-39" fmla="*/ 2369 w 8774"/>
              <a:gd name="connsiteY4-40" fmla="*/ 0 h 10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8774" h="10000">
                <a:moveTo>
                  <a:pt x="2369" y="0"/>
                </a:moveTo>
                <a:lnTo>
                  <a:pt x="5682" y="0"/>
                </a:lnTo>
                <a:lnTo>
                  <a:pt x="8774" y="10000"/>
                </a:lnTo>
                <a:lnTo>
                  <a:pt x="0" y="7222"/>
                </a:lnTo>
                <a:lnTo>
                  <a:pt x="2369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6" name="TextBox 76"/>
          <p:cNvSpPr txBox="1"/>
          <p:nvPr/>
        </p:nvSpPr>
        <p:spPr>
          <a:xfrm>
            <a:off x="4480560" y="1992830"/>
            <a:ext cx="3230880" cy="101473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第五部分</a:t>
            </a:r>
            <a:endParaRPr lang="zh-CN" altLang="en-US" sz="6000" dirty="0">
              <a:solidFill>
                <a:prstClr val="white">
                  <a:lumMod val="95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Box 76"/>
          <p:cNvSpPr txBox="1"/>
          <p:nvPr/>
        </p:nvSpPr>
        <p:spPr>
          <a:xfrm>
            <a:off x="4323048" y="3333989"/>
            <a:ext cx="3545903" cy="107632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 </a:t>
            </a:r>
            <a:endParaRPr lang="en-US" altLang="zh-CN" sz="3200" dirty="0">
              <a:solidFill>
                <a:prstClr val="white">
                  <a:lumMod val="95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200" dirty="0">
                <a:solidFill>
                  <a:prstClr val="white">
                    <a:lumMod val="95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可解释性的启发</a:t>
            </a:r>
            <a:endParaRPr lang="zh-CN" altLang="en-US" sz="3200" dirty="0">
              <a:solidFill>
                <a:prstClr val="white">
                  <a:lumMod val="95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6190615" cy="5473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 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可解释性的启发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2" name="文本框 9"/>
          <p:cNvSpPr txBox="1"/>
          <p:nvPr>
            <p:custDataLst>
              <p:tags r:id="rId1"/>
            </p:custDataLst>
          </p:nvPr>
        </p:nvSpPr>
        <p:spPr>
          <a:xfrm>
            <a:off x="207010" y="3052445"/>
            <a:ext cx="4291330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MLP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只用节点特征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，不看图结构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X+A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（通过邻域聚合把结构引入）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Test Accuracy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0.814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MLP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（通常更低）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可视化：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的分簇更清晰、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MLP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更混杂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10"/>
          <p:cNvSpPr/>
          <p:nvPr>
            <p:custDataLst>
              <p:tags r:id="rId2"/>
            </p:custDataLst>
          </p:nvPr>
        </p:nvSpPr>
        <p:spPr>
          <a:xfrm>
            <a:off x="132080" y="2971800"/>
            <a:ext cx="4420235" cy="137033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5501005" y="1307465"/>
            <a:ext cx="4257040" cy="8705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模型依赖的信息源：性能提升来自对图结构信息的利用（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message passing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），而不是仅靠节点自身特征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4"/>
            </p:custDataLst>
          </p:nvPr>
        </p:nvSpPr>
        <p:spPr>
          <a:xfrm>
            <a:off x="5419725" y="1307465"/>
            <a:ext cx="4420235" cy="91503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右箭头 2"/>
          <p:cNvSpPr/>
          <p:nvPr/>
        </p:nvSpPr>
        <p:spPr>
          <a:xfrm rot="19440000">
            <a:off x="4417695" y="2380615"/>
            <a:ext cx="1268095" cy="47498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右箭头 4"/>
          <p:cNvSpPr/>
          <p:nvPr/>
        </p:nvSpPr>
        <p:spPr>
          <a:xfrm>
            <a:off x="4602480" y="3414395"/>
            <a:ext cx="1101725" cy="47498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5785485" y="3103880"/>
            <a:ext cx="4257040" cy="1209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高维输出（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logits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embedding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）降到二维，上色看分簇，可以看到全局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整体层面的可解释性，因为有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个区域，交叉多，那么哪些边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哪些特征造成了这些交叉？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圆角矩形 6"/>
          <p:cNvSpPr/>
          <p:nvPr>
            <p:custDataLst>
              <p:tags r:id="rId6"/>
            </p:custDataLst>
          </p:nvPr>
        </p:nvSpPr>
        <p:spPr>
          <a:xfrm>
            <a:off x="5724525" y="3103880"/>
            <a:ext cx="4420235" cy="120967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7"/>
            </p:custDataLst>
          </p:nvPr>
        </p:nvSpPr>
        <p:spPr>
          <a:xfrm>
            <a:off x="5419090" y="5280025"/>
            <a:ext cx="4498975" cy="1163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随机初始化下输出集中，训练后分簇出现，这是在说明：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模型一开始没有判别能力；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监督信号驱动参数更新，使表示对类别更敏感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圆角矩形 14"/>
          <p:cNvSpPr/>
          <p:nvPr>
            <p:custDataLst>
              <p:tags r:id="rId8"/>
            </p:custDataLst>
          </p:nvPr>
        </p:nvSpPr>
        <p:spPr>
          <a:xfrm>
            <a:off x="5419725" y="5280025"/>
            <a:ext cx="4420235" cy="95948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 rot="2760000">
            <a:off x="4376420" y="4504690"/>
            <a:ext cx="1268095" cy="47498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4235450" cy="5473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 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可解释性的启发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8" name="平行四边形 7"/>
          <p:cNvSpPr/>
          <p:nvPr>
            <p:custDataLst>
              <p:tags r:id="rId1"/>
            </p:custDataLst>
          </p:nvPr>
        </p:nvSpPr>
        <p:spPr>
          <a:xfrm rot="16200000">
            <a:off x="4051618" y="2949576"/>
            <a:ext cx="529590" cy="613410"/>
          </a:xfrm>
          <a:prstGeom prst="parallelogram">
            <a:avLst>
              <a:gd name="adj" fmla="val 47404"/>
            </a:avLst>
          </a:prstGeom>
          <a:gradFill>
            <a:gsLst>
              <a:gs pos="0">
                <a:schemeClr val="accent1">
                  <a:lumMod val="85000"/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9" name="平行四边形 8"/>
          <p:cNvSpPr/>
          <p:nvPr>
            <p:custDataLst>
              <p:tags r:id="rId2"/>
            </p:custDataLst>
          </p:nvPr>
        </p:nvSpPr>
        <p:spPr>
          <a:xfrm rot="16200000">
            <a:off x="4049078" y="4525646"/>
            <a:ext cx="529590" cy="613410"/>
          </a:xfrm>
          <a:prstGeom prst="parallelogram">
            <a:avLst>
              <a:gd name="adj" fmla="val 47404"/>
            </a:avLst>
          </a:prstGeom>
          <a:gradFill>
            <a:gsLst>
              <a:gs pos="0">
                <a:schemeClr val="accent1">
                  <a:lumMod val="85000"/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7" name="平行四边形 16"/>
          <p:cNvSpPr/>
          <p:nvPr>
            <p:custDataLst>
              <p:tags r:id="rId3"/>
            </p:custDataLst>
          </p:nvPr>
        </p:nvSpPr>
        <p:spPr>
          <a:xfrm rot="16200000" flipV="1">
            <a:off x="7584123" y="3734436"/>
            <a:ext cx="529590" cy="619760"/>
          </a:xfrm>
          <a:prstGeom prst="parallelogram">
            <a:avLst>
              <a:gd name="adj" fmla="val 47404"/>
            </a:avLst>
          </a:prstGeom>
          <a:gradFill>
            <a:gsLst>
              <a:gs pos="0">
                <a:schemeClr val="accent2">
                  <a:lumMod val="75000"/>
                  <a:alpha val="100000"/>
                </a:schemeClr>
              </a:gs>
              <a:gs pos="100000">
                <a:schemeClr val="accent2">
                  <a:lumMod val="90000"/>
                  <a:alpha val="100000"/>
                </a:scheme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cxnSp>
        <p:nvCxnSpPr>
          <p:cNvPr id="28" name="直接连接符 27"/>
          <p:cNvCxnSpPr/>
          <p:nvPr>
            <p:custDataLst>
              <p:tags r:id="rId4"/>
            </p:custDataLst>
          </p:nvPr>
        </p:nvCxnSpPr>
        <p:spPr>
          <a:xfrm>
            <a:off x="7583488" y="2941321"/>
            <a:ext cx="816610" cy="3175"/>
          </a:xfrm>
          <a:prstGeom prst="line">
            <a:avLst/>
          </a:prstGeom>
          <a:ln w="9525">
            <a:solidFill>
              <a:schemeClr val="accent1">
                <a:lumMod val="60000"/>
                <a:lumOff val="40000"/>
              </a:schemeClr>
            </a:solidFill>
            <a:prstDash val="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>
            <p:custDataLst>
              <p:tags r:id="rId5"/>
            </p:custDataLst>
          </p:nvPr>
        </p:nvCxnSpPr>
        <p:spPr>
          <a:xfrm>
            <a:off x="7578408" y="4561841"/>
            <a:ext cx="821690" cy="635"/>
          </a:xfrm>
          <a:prstGeom prst="line">
            <a:avLst/>
          </a:prstGeom>
          <a:ln w="9525">
            <a:solidFill>
              <a:schemeClr val="accent1">
                <a:lumMod val="60000"/>
                <a:lumOff val="40000"/>
              </a:schemeClr>
            </a:solidFill>
            <a:prstDash val="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3" name="椭圆 32"/>
          <p:cNvSpPr/>
          <p:nvPr>
            <p:custDataLst>
              <p:tags r:id="rId6"/>
            </p:custDataLst>
          </p:nvPr>
        </p:nvSpPr>
        <p:spPr>
          <a:xfrm>
            <a:off x="8468678" y="2750186"/>
            <a:ext cx="388620" cy="388620"/>
          </a:xfrm>
          <a:prstGeom prst="ellipse">
            <a:avLst/>
          </a:prstGeom>
          <a:gradFill>
            <a:gsLst>
              <a:gs pos="0">
                <a:schemeClr val="accent1">
                  <a:lumMod val="75000"/>
                  <a:lumOff val="25000"/>
                  <a:alpha val="100000"/>
                </a:schemeClr>
              </a:gs>
              <a:gs pos="100000">
                <a:schemeClr val="accent1">
                  <a:lumMod val="85000"/>
                  <a:lumOff val="15000"/>
                  <a:alpha val="100000"/>
                </a:schemeClr>
              </a:gs>
            </a:gsLst>
            <a:lin ang="2640000" scaled="0"/>
          </a:gradFill>
          <a:ln w="317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cxnSp>
        <p:nvCxnSpPr>
          <p:cNvPr id="35" name="直接连接符 34"/>
          <p:cNvCxnSpPr/>
          <p:nvPr>
            <p:custDataLst>
              <p:tags r:id="rId7"/>
            </p:custDataLst>
          </p:nvPr>
        </p:nvCxnSpPr>
        <p:spPr>
          <a:xfrm>
            <a:off x="3754438" y="3753486"/>
            <a:ext cx="843915" cy="1905"/>
          </a:xfrm>
          <a:prstGeom prst="line">
            <a:avLst/>
          </a:prstGeom>
          <a:ln w="9525">
            <a:solidFill>
              <a:schemeClr val="accent2">
                <a:lumMod val="60000"/>
                <a:lumOff val="40000"/>
              </a:schemeClr>
            </a:solidFill>
            <a:prstDash val="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7" name="椭圆 36"/>
          <p:cNvSpPr/>
          <p:nvPr>
            <p:custDataLst>
              <p:tags r:id="rId8"/>
            </p:custDataLst>
          </p:nvPr>
        </p:nvSpPr>
        <p:spPr>
          <a:xfrm>
            <a:off x="8468678" y="4368166"/>
            <a:ext cx="388620" cy="388620"/>
          </a:xfrm>
          <a:prstGeom prst="ellipse">
            <a:avLst/>
          </a:prstGeom>
          <a:gradFill>
            <a:gsLst>
              <a:gs pos="0">
                <a:schemeClr val="accent1">
                  <a:lumMod val="75000"/>
                  <a:lumOff val="25000"/>
                  <a:alpha val="100000"/>
                </a:schemeClr>
              </a:gs>
              <a:gs pos="100000">
                <a:schemeClr val="accent1">
                  <a:lumMod val="85000"/>
                  <a:lumOff val="15000"/>
                  <a:alpha val="100000"/>
                </a:schemeClr>
              </a:gs>
            </a:gsLst>
            <a:lin ang="2640000" scaled="0"/>
          </a:gradFill>
          <a:ln w="317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41" name="椭圆 40"/>
          <p:cNvSpPr/>
          <p:nvPr>
            <p:custDataLst>
              <p:tags r:id="rId9"/>
            </p:custDataLst>
          </p:nvPr>
        </p:nvSpPr>
        <p:spPr>
          <a:xfrm>
            <a:off x="3306128" y="3559811"/>
            <a:ext cx="388620" cy="388620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lumOff val="25000"/>
                  <a:alpha val="100000"/>
                </a:schemeClr>
              </a:gs>
              <a:gs pos="100000">
                <a:schemeClr val="accent2">
                  <a:lumMod val="85000"/>
                  <a:lumOff val="15000"/>
                  <a:alpha val="100000"/>
                </a:schemeClr>
              </a:gs>
            </a:gsLst>
            <a:lin ang="2640000" scaled="0"/>
          </a:gradFill>
          <a:ln w="317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9" name="矩形 18"/>
          <p:cNvSpPr/>
          <p:nvPr>
            <p:custDataLst>
              <p:tags r:id="rId10"/>
            </p:custDataLst>
          </p:nvPr>
        </p:nvSpPr>
        <p:spPr>
          <a:xfrm>
            <a:off x="9040813" y="2395221"/>
            <a:ext cx="2423736" cy="117221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通过与不使用图结构的</a:t>
            </a:r>
            <a:r>
              <a:rPr lang="en-US" alt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 MLP </a:t>
            </a: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基线对比，证明模型性能提升主要来自图结构信息的</a:t>
            </a:r>
            <a:r>
              <a:rPr lang="zh-CN" altLang="en-US" sz="14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邻域传播与特征平滑</a:t>
            </a:r>
            <a:r>
              <a:rPr lang="en-US" altLang="zh-CN" sz="14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/</a:t>
            </a:r>
            <a:r>
              <a:rPr lang="zh-CN" altLang="en-US" sz="14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聚合效应</a:t>
            </a:r>
            <a:endParaRPr lang="zh-CN" altLang="en-US" sz="14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11"/>
            </p:custDataLst>
          </p:nvPr>
        </p:nvSpPr>
        <p:spPr>
          <a:xfrm>
            <a:off x="9040813" y="3991611"/>
            <a:ext cx="2423736" cy="117221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连接到了多个类别的邻居（结构上跨社区）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或它的特征很像别的类别（特征层面模糊）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2" name="矩形 21"/>
          <p:cNvSpPr/>
          <p:nvPr>
            <p:custDataLst>
              <p:tags r:id="rId12"/>
            </p:custDataLst>
          </p:nvPr>
        </p:nvSpPr>
        <p:spPr>
          <a:xfrm>
            <a:off x="581025" y="3164840"/>
            <a:ext cx="2571115" cy="159258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解释某个节点为什么被判成某类</a:t>
            </a:r>
            <a:endParaRPr lang="zh-CN" altLang="en-US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node-level explanation</a:t>
            </a:r>
            <a:endParaRPr lang="en-US" altLang="zh-CN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对某个节点</a:t>
            </a:r>
            <a:r>
              <a:rPr lang="en-US" alt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 v</a:t>
            </a: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：</a:t>
            </a:r>
            <a:endParaRPr lang="en-US" altLang="zh-CN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哪些邻居</a:t>
            </a:r>
            <a:r>
              <a:rPr lang="en-US" alt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/</a:t>
            </a: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哪条边最关键？</a:t>
            </a:r>
            <a:endParaRPr lang="en-US" altLang="zh-CN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哪些特征维度最关键？</a:t>
            </a:r>
            <a:endParaRPr lang="en-US" altLang="zh-CN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为什么模型把它分到第</a:t>
            </a:r>
            <a:r>
              <a:rPr lang="en-US" alt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 k </a:t>
            </a: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类？</a:t>
            </a:r>
            <a:endParaRPr lang="zh-CN" altLang="en-US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4" name="标题"/>
          <p:cNvSpPr/>
          <p:nvPr>
            <p:custDataLst>
              <p:tags r:id="rId13"/>
            </p:custDataLst>
          </p:nvPr>
        </p:nvSpPr>
        <p:spPr>
          <a:xfrm>
            <a:off x="4007168" y="4232911"/>
            <a:ext cx="3368040" cy="612140"/>
          </a:xfrm>
          <a:prstGeom prst="rect">
            <a:avLst/>
          </a:prstGeom>
          <a:gradFill>
            <a:gsLst>
              <a:gs pos="80000">
                <a:schemeClr val="accent1">
                  <a:lumMod val="70000"/>
                  <a:lumOff val="30000"/>
                  <a:alpha val="100000"/>
                </a:schemeClr>
              </a:gs>
              <a:gs pos="20000">
                <a:schemeClr val="accent1">
                  <a:alpha val="100000"/>
                </a:schemeClr>
              </a:gs>
            </a:gsLst>
            <a:lin ang="81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zh-CN" altLang="en-US" b="1">
                <a:solidFill>
                  <a:srgbClr val="FFFFFF"/>
                </a:solidFill>
                <a:uFillTx/>
                <a:latin typeface="+mn-ea"/>
                <a:cs typeface="+mn-ea"/>
                <a:sym typeface="+mn-ea"/>
              </a:rPr>
              <a:t>解释去定位</a:t>
            </a:r>
            <a:r>
              <a:rPr lang="en-US" altLang="zh-CN" b="1">
                <a:solidFill>
                  <a:srgbClr val="FFFFFF"/>
                </a:solidFill>
                <a:uFillTx/>
                <a:latin typeface="+mn-ea"/>
                <a:cs typeface="+mn-ea"/>
                <a:sym typeface="+mn-ea"/>
              </a:rPr>
              <a:t>“</a:t>
            </a:r>
            <a:r>
              <a:rPr lang="zh-CN" altLang="en-US" b="1">
                <a:solidFill>
                  <a:srgbClr val="FFFFFF"/>
                </a:solidFill>
                <a:uFillTx/>
                <a:latin typeface="+mn-ea"/>
                <a:cs typeface="+mn-ea"/>
                <a:sym typeface="+mn-ea"/>
              </a:rPr>
              <a:t>混淆来源</a:t>
            </a:r>
            <a:r>
              <a:rPr lang="en-US" altLang="zh-CN" b="1">
                <a:solidFill>
                  <a:srgbClr val="FFFFFF"/>
                </a:solidFill>
                <a:uFillTx/>
                <a:latin typeface="+mn-ea"/>
                <a:cs typeface="+mn-ea"/>
                <a:sym typeface="+mn-ea"/>
              </a:rPr>
              <a:t>”</a:t>
            </a:r>
            <a:endParaRPr lang="en-US" altLang="zh-CN" b="1">
              <a:solidFill>
                <a:srgbClr val="FFFFFF"/>
              </a:solidFill>
              <a:uFillTx/>
              <a:latin typeface="+mn-ea"/>
              <a:cs typeface="+mn-ea"/>
              <a:sym typeface="+mn-ea"/>
            </a:endParaRPr>
          </a:p>
        </p:txBody>
      </p:sp>
      <p:sp>
        <p:nvSpPr>
          <p:cNvPr id="25" name="标题"/>
          <p:cNvSpPr/>
          <p:nvPr>
            <p:custDataLst>
              <p:tags r:id="rId14"/>
            </p:custDataLst>
          </p:nvPr>
        </p:nvSpPr>
        <p:spPr>
          <a:xfrm>
            <a:off x="4792663" y="3444876"/>
            <a:ext cx="3368675" cy="612140"/>
          </a:xfrm>
          <a:prstGeom prst="rect">
            <a:avLst/>
          </a:prstGeom>
          <a:gradFill>
            <a:gsLst>
              <a:gs pos="80000">
                <a:schemeClr val="accent2">
                  <a:lumMod val="70000"/>
                  <a:lumOff val="30000"/>
                  <a:alpha val="100000"/>
                </a:schemeClr>
              </a:gs>
              <a:gs pos="20000">
                <a:schemeClr val="accent2">
                  <a:alpha val="100000"/>
                </a:schemeClr>
              </a:gs>
            </a:gsLst>
            <a:lin ang="81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zh-CN" altLang="en-US" sz="1600" b="1" dirty="0">
                <a:solidFill>
                  <a:srgbClr val="FFFFFF"/>
                </a:solidFill>
                <a:uFillTx/>
                <a:latin typeface="+mn-ea"/>
                <a:cs typeface="+mn-ea"/>
                <a:sym typeface="+mn-ea"/>
              </a:rPr>
              <a:t>解释某个节点为什么被判成某类</a:t>
            </a:r>
            <a:endParaRPr lang="zh-CN" altLang="en-US" sz="1600" b="1" dirty="0">
              <a:solidFill>
                <a:srgbClr val="FFFFFF"/>
              </a:solidFill>
              <a:uFillTx/>
              <a:latin typeface="+mn-ea"/>
              <a:cs typeface="+mn-ea"/>
              <a:sym typeface="+mn-ea"/>
            </a:endParaRPr>
          </a:p>
        </p:txBody>
      </p:sp>
      <p:pic>
        <p:nvPicPr>
          <p:cNvPr id="30" name="图片 14" descr="343439383331313b343532303033303bd2d1b9bad3a6d3c3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404553" y="3658871"/>
            <a:ext cx="190800" cy="190800"/>
          </a:xfrm>
          <a:prstGeom prst="rect">
            <a:avLst/>
          </a:prstGeom>
        </p:spPr>
      </p:pic>
      <p:sp>
        <p:nvSpPr>
          <p:cNvPr id="26" name="标题"/>
          <p:cNvSpPr/>
          <p:nvPr>
            <p:custDataLst>
              <p:tags r:id="rId18"/>
            </p:custDataLst>
          </p:nvPr>
        </p:nvSpPr>
        <p:spPr>
          <a:xfrm>
            <a:off x="4007803" y="2664461"/>
            <a:ext cx="3361690" cy="604520"/>
          </a:xfrm>
          <a:prstGeom prst="rect">
            <a:avLst/>
          </a:prstGeom>
          <a:gradFill>
            <a:gsLst>
              <a:gs pos="80000">
                <a:schemeClr val="accent1">
                  <a:lumMod val="70000"/>
                  <a:lumOff val="30000"/>
                  <a:alpha val="100000"/>
                </a:schemeClr>
              </a:gs>
              <a:gs pos="20000">
                <a:schemeClr val="accent1">
                  <a:alpha val="100000"/>
                </a:schemeClr>
              </a:gs>
            </a:gsLst>
            <a:lin ang="81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zh-CN" altLang="en-US" b="1">
                <a:solidFill>
                  <a:srgbClr val="FFFFFF"/>
                </a:solidFill>
                <a:uFillTx/>
                <a:latin typeface="+mn-ea"/>
                <a:cs typeface="+mn-ea"/>
                <a:sym typeface="+mn-ea"/>
              </a:rPr>
              <a:t>模型性能提升</a:t>
            </a:r>
            <a:endParaRPr lang="zh-CN" altLang="en-US" b="1">
              <a:solidFill>
                <a:srgbClr val="FFFFFF"/>
              </a:solidFill>
              <a:uFillTx/>
              <a:latin typeface="+mn-ea"/>
              <a:cs typeface="+mn-ea"/>
              <a:sym typeface="+mn-ea"/>
            </a:endParaRPr>
          </a:p>
        </p:txBody>
      </p:sp>
      <p:pic>
        <p:nvPicPr>
          <p:cNvPr id="27" name="图片 12" descr="343439383331313b343532303032383bbfcdbba7b9dcc0ed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58848" y="2843531"/>
            <a:ext cx="201404" cy="201404"/>
          </a:xfrm>
          <a:prstGeom prst="rect">
            <a:avLst/>
          </a:prstGeom>
        </p:spPr>
      </p:pic>
      <p:pic>
        <p:nvPicPr>
          <p:cNvPr id="31" name="图片 5" descr="343435383036303b343532343134393bcdb7c4d4b7e7b1a9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558848" y="4458336"/>
            <a:ext cx="208799" cy="20879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6190615" cy="5473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 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可解释性的启发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1" name="圆角矩形 10"/>
          <p:cNvSpPr/>
          <p:nvPr>
            <p:custDataLst>
              <p:tags r:id="rId1"/>
            </p:custDataLst>
          </p:nvPr>
        </p:nvSpPr>
        <p:spPr>
          <a:xfrm>
            <a:off x="1057910" y="918845"/>
            <a:ext cx="9149715" cy="729615"/>
          </a:xfrm>
          <a:prstGeom prst="roundRect">
            <a:avLst/>
          </a:prstGeom>
          <a:ln w="28575" cmpd="sng">
            <a:solidFill>
              <a:srgbClr val="ED4022"/>
            </a:solidFill>
            <a:prstDash val="lg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2"/>
            </p:custDataLst>
          </p:nvPr>
        </p:nvSpPr>
        <p:spPr>
          <a:xfrm>
            <a:off x="2300605" y="819150"/>
            <a:ext cx="6821170" cy="639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解释器（</a:t>
            </a:r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PyG Explainer </a:t>
            </a: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框架</a:t>
            </a: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）产生解释（</a:t>
            </a:r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mask</a:t>
            </a: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endParaRPr lang="zh-CN" altLang="en-US" sz="20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30000"/>
              </a:lnSpc>
            </a:pP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用忠实性（</a:t>
            </a:r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fidelity</a:t>
            </a: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）验证解释是否真的反映模型决策依据</a:t>
            </a:r>
            <a:endParaRPr lang="zh-CN" altLang="en-US" sz="20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圆角矩形 13"/>
          <p:cNvSpPr/>
          <p:nvPr>
            <p:custDataLst>
              <p:tags r:id="rId3"/>
            </p:custDataLst>
          </p:nvPr>
        </p:nvSpPr>
        <p:spPr>
          <a:xfrm>
            <a:off x="409575" y="2053590"/>
            <a:ext cx="4420235" cy="91503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右箭头 2"/>
          <p:cNvSpPr/>
          <p:nvPr/>
        </p:nvSpPr>
        <p:spPr>
          <a:xfrm rot="5400000">
            <a:off x="1903730" y="3380740"/>
            <a:ext cx="1268095" cy="47498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右箭头 4"/>
          <p:cNvSpPr/>
          <p:nvPr/>
        </p:nvSpPr>
        <p:spPr>
          <a:xfrm>
            <a:off x="4829810" y="4645025"/>
            <a:ext cx="1101725" cy="47498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409575" y="4252595"/>
            <a:ext cx="4257040" cy="1489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）用解释器得到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node_mask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与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edge_mask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node_mask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：哪些输入特征维度（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Cora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1433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维词袋）对这个节点的预测最重要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edge_mask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：哪些边（邻居关系）对这个节点的预测最重要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圆角矩形 6"/>
          <p:cNvSpPr/>
          <p:nvPr>
            <p:custDataLst>
              <p:tags r:id="rId5"/>
            </p:custDataLst>
          </p:nvPr>
        </p:nvSpPr>
        <p:spPr>
          <a:xfrm>
            <a:off x="345440" y="4203065"/>
            <a:ext cx="4420235" cy="163766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6"/>
            </p:custDataLst>
          </p:nvPr>
        </p:nvSpPr>
        <p:spPr>
          <a:xfrm>
            <a:off x="6158865" y="2136775"/>
            <a:ext cx="4498975" cy="1163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deletion / insertion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fidelity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检验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这些被解释器标出来的特征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边，真的是模型做决策时依赖的原因吗？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Deletion fidelity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（必要性）：删掉重要边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特征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en-US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→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预测应明显变差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置信度应显著下降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Insertion fidelity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（充分性）：只保留重要边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特征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en-US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→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预测应尽可能保持原样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正确节点：解释证据集中且一致（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必要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+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近似充分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”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错误节点：解释揭示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邻域混杂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冲突证据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”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，解释不仅解释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为什么对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”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，还解释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为什么错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”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圆角矩形 14"/>
          <p:cNvSpPr/>
          <p:nvPr>
            <p:custDataLst>
              <p:tags r:id="rId7"/>
            </p:custDataLst>
          </p:nvPr>
        </p:nvSpPr>
        <p:spPr>
          <a:xfrm>
            <a:off x="6091555" y="1821180"/>
            <a:ext cx="4420235" cy="437515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443865" y="2036445"/>
            <a:ext cx="4498975" cy="1163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）我训练了一个节点分类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GNN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GCN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模型学到的不是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每个节点独立分类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”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，而是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节点特征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+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邻居结构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”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共同决定类别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6190615" cy="5473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 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可解释性的启发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后续研究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1" name="圆角矩形 10"/>
          <p:cNvSpPr/>
          <p:nvPr>
            <p:custDataLst>
              <p:tags r:id="rId1"/>
            </p:custDataLst>
          </p:nvPr>
        </p:nvSpPr>
        <p:spPr>
          <a:xfrm>
            <a:off x="1854835" y="1018540"/>
            <a:ext cx="1935480" cy="729615"/>
          </a:xfrm>
          <a:prstGeom prst="roundRect">
            <a:avLst/>
          </a:prstGeom>
          <a:ln w="28575" cmpd="sng">
            <a:solidFill>
              <a:srgbClr val="ED4022"/>
            </a:solidFill>
            <a:prstDash val="lg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2"/>
            </p:custDataLst>
          </p:nvPr>
        </p:nvSpPr>
        <p:spPr>
          <a:xfrm>
            <a:off x="2169160" y="1109345"/>
            <a:ext cx="1239520" cy="639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换解释器</a:t>
            </a:r>
            <a:endParaRPr lang="zh-CN" sz="20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6158865" y="2136775"/>
            <a:ext cx="4498975" cy="1163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解释器不变，模型变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 vs GraphSAGE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SAGE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聚合方式不同，解释边可能更偏向局部代表性邻居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GCN vs GAT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GAT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attention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权重，你可以对比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“attention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是否等于解释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浅层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深层（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2-layer vs 3/4-layer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）：更深会出现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oversmoothing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，解释会更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扩散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圆角矩形 14"/>
          <p:cNvSpPr/>
          <p:nvPr>
            <p:custDataLst>
              <p:tags r:id="rId4"/>
            </p:custDataLst>
          </p:nvPr>
        </p:nvSpPr>
        <p:spPr>
          <a:xfrm>
            <a:off x="6091555" y="1821180"/>
            <a:ext cx="4420235" cy="332930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5"/>
            </p:custDataLst>
          </p:nvPr>
        </p:nvSpPr>
        <p:spPr>
          <a:xfrm>
            <a:off x="636905" y="2137410"/>
            <a:ext cx="4498975" cy="3768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GNNExplainer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：学习一个子图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mask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来最大化原预测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优点：直观、可视化强；缺点：有时会出现不稳定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冗余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PGExplainer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：训练一个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解释器网络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生成边重要性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优点：可泛化到不同节点；缺点：需要额外训练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Integrated Gradients (IG)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Grad</a:t>
            </a:r>
            <a:r>
              <a:rPr lang="en-US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Saliency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优点：简单、速度快；缺点：对离散结构（边）解释不如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mask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法直观，容易噪声大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GNN-LRP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GraphSVX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Shapley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近似）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优点：解释更接近理论归因；缺点：计算贵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实现复杂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6"/>
            </p:custDataLst>
          </p:nvPr>
        </p:nvSpPr>
        <p:spPr>
          <a:xfrm>
            <a:off x="636905" y="1821180"/>
            <a:ext cx="4420235" cy="420116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圆角矩形 15"/>
          <p:cNvSpPr/>
          <p:nvPr>
            <p:custDataLst>
              <p:tags r:id="rId7"/>
            </p:custDataLst>
          </p:nvPr>
        </p:nvSpPr>
        <p:spPr>
          <a:xfrm>
            <a:off x="7440295" y="1018540"/>
            <a:ext cx="1935480" cy="729615"/>
          </a:xfrm>
          <a:prstGeom prst="roundRect">
            <a:avLst/>
          </a:prstGeom>
          <a:ln w="28575" cmpd="sng">
            <a:solidFill>
              <a:srgbClr val="ED4022"/>
            </a:solidFill>
            <a:prstDash val="lg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7618730" y="1108710"/>
            <a:ext cx="1579245" cy="639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换</a:t>
            </a:r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GNN</a:t>
            </a:r>
            <a:r>
              <a:rPr 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架构</a:t>
            </a:r>
            <a:endParaRPr lang="zh-CN" sz="20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20065" y="6196330"/>
            <a:ext cx="4822825" cy="52197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400" dirty="0">
                <a:solidFill>
                  <a:srgbClr val="002B41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对比目标：同一模型、同一节点，在不同解释器下，解释边是否一致？fidelity 指标谁更好？解释稳定性谁更强？</a:t>
            </a:r>
            <a:endParaRPr lang="zh-CN" altLang="en-US" sz="1400" dirty="0">
              <a:solidFill>
                <a:srgbClr val="002B41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6190615" cy="5473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 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可解释性的启发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后续研究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1" name="圆角矩形 10"/>
          <p:cNvSpPr/>
          <p:nvPr>
            <p:custDataLst>
              <p:tags r:id="rId1"/>
            </p:custDataLst>
          </p:nvPr>
        </p:nvSpPr>
        <p:spPr>
          <a:xfrm>
            <a:off x="1854835" y="1018540"/>
            <a:ext cx="1935480" cy="729615"/>
          </a:xfrm>
          <a:prstGeom prst="roundRect">
            <a:avLst/>
          </a:prstGeom>
          <a:ln w="28575" cmpd="sng">
            <a:solidFill>
              <a:srgbClr val="ED4022"/>
            </a:solidFill>
            <a:prstDash val="lg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2"/>
            </p:custDataLst>
          </p:nvPr>
        </p:nvSpPr>
        <p:spPr>
          <a:xfrm>
            <a:off x="2111375" y="1109345"/>
            <a:ext cx="1471930" cy="639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换评估指标</a:t>
            </a:r>
            <a:endParaRPr lang="zh-CN" sz="20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" name="文本框 8"/>
          <p:cNvSpPr txBox="1"/>
          <p:nvPr>
            <p:custDataLst>
              <p:tags r:id="rId3"/>
            </p:custDataLst>
          </p:nvPr>
        </p:nvSpPr>
        <p:spPr>
          <a:xfrm>
            <a:off x="636905" y="2137410"/>
            <a:ext cx="4498975" cy="19024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1)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稳定性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鲁棒性（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Stability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同一个节点，重复运行解释器多次（不同随机种子）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看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top-k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边重合率（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Jaccard / overlap@k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2)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简洁性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稀疏性（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Sparsity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在达到同样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fidelity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的前提下，解释边越少越好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4"/>
            </p:custDataLst>
          </p:nvPr>
        </p:nvSpPr>
        <p:spPr>
          <a:xfrm>
            <a:off x="636905" y="1821180"/>
            <a:ext cx="4420235" cy="230187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7107555" y="1019175"/>
            <a:ext cx="1935480" cy="729615"/>
          </a:xfrm>
          <a:prstGeom prst="roundRect">
            <a:avLst/>
          </a:prstGeom>
          <a:ln w="28575" cmpd="sng">
            <a:solidFill>
              <a:srgbClr val="ED4022"/>
            </a:solidFill>
            <a:prstDash val="lg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6"/>
            </p:custDataLst>
          </p:nvPr>
        </p:nvSpPr>
        <p:spPr>
          <a:xfrm>
            <a:off x="7572375" y="1134745"/>
            <a:ext cx="1106805" cy="639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换图</a:t>
            </a:r>
            <a:r>
              <a:rPr lang="en-US" altLang="zh-CN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/</a:t>
            </a:r>
            <a:r>
              <a:rPr lang="zh-CN" altLang="en-US" sz="20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边</a:t>
            </a:r>
            <a:endParaRPr lang="zh-CN" altLang="en-US" sz="20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1" name="文本框 20"/>
          <p:cNvSpPr txBox="1"/>
          <p:nvPr>
            <p:custDataLst>
              <p:tags r:id="rId7"/>
            </p:custDataLst>
          </p:nvPr>
        </p:nvSpPr>
        <p:spPr>
          <a:xfrm>
            <a:off x="6022975" y="1962785"/>
            <a:ext cx="4498975" cy="12236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图级解释（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graph classification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）：解释哪些子结构决定整图类别（分子图任务最典型）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边级解释（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link prediction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）：解释为什么这条边存在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被预测为正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圆角矩形 21"/>
          <p:cNvSpPr/>
          <p:nvPr>
            <p:custDataLst>
              <p:tags r:id="rId8"/>
            </p:custDataLst>
          </p:nvPr>
        </p:nvSpPr>
        <p:spPr>
          <a:xfrm>
            <a:off x="5955665" y="1847215"/>
            <a:ext cx="4420235" cy="133921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443865" y="173355"/>
            <a:ext cx="7367905" cy="5473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GNN 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可解释性的启发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-LLM</a:t>
            </a:r>
            <a:r>
              <a:rPr lang="zh-CN" altLang="en-US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32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mask</a:t>
            </a:r>
            <a:endParaRPr lang="zh-CN" altLang="en-US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32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"/>
          <p:cNvSpPr/>
          <p:nvPr/>
        </p:nvSpPr>
        <p:spPr bwMode="auto">
          <a:xfrm flipH="1">
            <a:off x="0" y="-13281"/>
            <a:ext cx="409433" cy="832147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chemeClr val="bg1">
                  <a:lumMod val="9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1"/>
            </p:custDataLst>
          </p:nvPr>
        </p:nvSpPr>
        <p:spPr>
          <a:xfrm>
            <a:off x="636905" y="1283970"/>
            <a:ext cx="4498975" cy="19024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node_ok=1709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边证据一致，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deletion/insertion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都表现得很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忠实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node_bad=1708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边内部存在冲突信号，导致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只保留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top-k”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时预测乱跳（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3/5/0…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解释器输出的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edge_mask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在困难节点上会把两类边混在一起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2"/>
            </p:custDataLst>
          </p:nvPr>
        </p:nvSpPr>
        <p:spPr>
          <a:xfrm>
            <a:off x="636905" y="1134745"/>
            <a:ext cx="4420235" cy="230187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3"/>
            </p:custDataLst>
          </p:nvPr>
        </p:nvSpPr>
        <p:spPr>
          <a:xfrm>
            <a:off x="781685" y="4156710"/>
            <a:ext cx="4498975" cy="12236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supportive edges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：支持真实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合理预测的边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misleading edges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：高权重但把表示推向错误类的边（或噪声边）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圆角矩形 21"/>
          <p:cNvSpPr/>
          <p:nvPr>
            <p:custDataLst>
              <p:tags r:id="rId4"/>
            </p:custDataLst>
          </p:nvPr>
        </p:nvSpPr>
        <p:spPr>
          <a:xfrm>
            <a:off x="695325" y="4098925"/>
            <a:ext cx="4420235" cy="133921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下箭头 2"/>
          <p:cNvSpPr/>
          <p:nvPr/>
        </p:nvSpPr>
        <p:spPr>
          <a:xfrm>
            <a:off x="2444115" y="3463290"/>
            <a:ext cx="630555" cy="666750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>
            <p:custDataLst>
              <p:tags r:id="rId5"/>
            </p:custDataLst>
          </p:nvPr>
        </p:nvSpPr>
        <p:spPr>
          <a:xfrm>
            <a:off x="1062355" y="5848985"/>
            <a:ext cx="3775710" cy="729615"/>
          </a:xfrm>
          <a:prstGeom prst="roundRect">
            <a:avLst/>
          </a:prstGeom>
          <a:ln w="28575" cmpd="sng">
            <a:solidFill>
              <a:srgbClr val="ED4022"/>
            </a:solidFill>
            <a:prstDash val="lg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1111885" y="5848985"/>
            <a:ext cx="3725545" cy="639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用语义/常识/文本一致性给 edge 做“质量过滤或重排序”，把 misleading edges降下去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7" name="图片 6" descr="1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38545" y="720725"/>
            <a:ext cx="615950" cy="61595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6329045" y="1276350"/>
            <a:ext cx="4498975" cy="19024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、现在的解释器得到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edge_mask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（每条边一个重要性分数）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、在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top-N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候选边里（例如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N=50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），对每条候选边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(u</a:t>
            </a:r>
            <a:r>
              <a:rPr lang="en-US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v)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额外生成一个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LLM_score(u,v)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、融合分数：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、用新的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score'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重新取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top-k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边，做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deletion/insertion/stability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对比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圆角矩形 12"/>
          <p:cNvSpPr/>
          <p:nvPr>
            <p:custDataLst>
              <p:tags r:id="rId10"/>
            </p:custDataLst>
          </p:nvPr>
        </p:nvSpPr>
        <p:spPr>
          <a:xfrm>
            <a:off x="6329045" y="1127125"/>
            <a:ext cx="4420235" cy="281241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圆角矩形 16"/>
          <p:cNvSpPr/>
          <p:nvPr>
            <p:custDataLst>
              <p:tags r:id="rId11"/>
            </p:custDataLst>
          </p:nvPr>
        </p:nvSpPr>
        <p:spPr>
          <a:xfrm>
            <a:off x="6704965" y="5810250"/>
            <a:ext cx="3775710" cy="729615"/>
          </a:xfrm>
          <a:prstGeom prst="roundRect">
            <a:avLst/>
          </a:prstGeom>
          <a:ln w="28575" cmpd="sng">
            <a:solidFill>
              <a:srgbClr val="ED4022"/>
            </a:solidFill>
            <a:prstDash val="lg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>
            <p:custDataLst>
              <p:tags r:id="rId12"/>
            </p:custDataLst>
          </p:nvPr>
        </p:nvSpPr>
        <p:spPr>
          <a:xfrm>
            <a:off x="6754495" y="5810250"/>
            <a:ext cx="3725545" cy="639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预计结果：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top-k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边更倾向同类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语义一致邻居，预测跳变减少，解释稳定性提升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下箭头 22"/>
          <p:cNvSpPr/>
          <p:nvPr/>
        </p:nvSpPr>
        <p:spPr>
          <a:xfrm>
            <a:off x="2651760" y="5431790"/>
            <a:ext cx="422910" cy="365125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6804025" y="763270"/>
            <a:ext cx="331279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 做“后处理 rerank/filter”</a:t>
            </a:r>
            <a:endParaRPr lang="zh-CN" altLang="en-US" sz="16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83985" y="2827655"/>
            <a:ext cx="4046220" cy="351155"/>
          </a:xfrm>
          <a:prstGeom prst="rect">
            <a:avLst/>
          </a:prstGeom>
        </p:spPr>
      </p:pic>
      <p:sp>
        <p:nvSpPr>
          <p:cNvPr id="26" name="文本框 25"/>
          <p:cNvSpPr txBox="1"/>
          <p:nvPr>
            <p:custDataLst>
              <p:tags r:id="rId14"/>
            </p:custDataLst>
          </p:nvPr>
        </p:nvSpPr>
        <p:spPr>
          <a:xfrm>
            <a:off x="5356225" y="4066540"/>
            <a:ext cx="6588760" cy="19024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metrics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Fidelity   2</a:t>
            </a:r>
            <a:r>
              <a:rPr lang="zh-CN" altLang="en-US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400" b="1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Stability </a:t>
            </a:r>
            <a:endParaRPr lang="en-US" altLang="zh-CN" sz="1400" b="1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deletion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：删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top-k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后原预测置信度下降更明显（更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必要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insertion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：只保留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top-k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后更能维持原预测（更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充分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、同一节点重复解释多次（不同随机种子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不同初始化），看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top-k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边重合率：</a:t>
            </a:r>
            <a:endParaRPr lang="zh-CN" altLang="en-US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overlap@k / Jaccard@k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 rerank </a:t>
            </a:r>
            <a:r>
              <a:rPr lang="zh-CN" altLang="en-US" sz="14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后如果稳定性更高，结果越好</a:t>
            </a:r>
            <a:endParaRPr lang="zh-CN" sz="14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圆角矩形 26"/>
          <p:cNvSpPr/>
          <p:nvPr>
            <p:custDataLst>
              <p:tags r:id="rId15"/>
            </p:custDataLst>
          </p:nvPr>
        </p:nvSpPr>
        <p:spPr>
          <a:xfrm>
            <a:off x="5280025" y="4066540"/>
            <a:ext cx="6762750" cy="161290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A_Line 15"/>
          <p:cNvSpPr>
            <a:spLocks noChangeShapeType="1"/>
          </p:cNvSpPr>
          <p:nvPr>
            <p:custDataLst>
              <p:tags r:id="rId1"/>
            </p:custDataLst>
          </p:nvPr>
        </p:nvSpPr>
        <p:spPr bwMode="auto">
          <a:xfrm flipV="1">
            <a:off x="3459637" y="0"/>
            <a:ext cx="7651028" cy="6860440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9" name="PA_Line 16"/>
          <p:cNvSpPr>
            <a:spLocks noChangeShapeType="1"/>
          </p:cNvSpPr>
          <p:nvPr>
            <p:custDataLst>
              <p:tags r:id="rId2"/>
            </p:custDataLst>
          </p:nvPr>
        </p:nvSpPr>
        <p:spPr bwMode="auto">
          <a:xfrm>
            <a:off x="8045145" y="-179684"/>
            <a:ext cx="4011737" cy="7040124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10" name="PA_Line 17"/>
          <p:cNvSpPr>
            <a:spLocks noChangeShapeType="1"/>
          </p:cNvSpPr>
          <p:nvPr>
            <p:custDataLst>
              <p:tags r:id="rId3"/>
            </p:custDataLst>
          </p:nvPr>
        </p:nvSpPr>
        <p:spPr bwMode="auto">
          <a:xfrm>
            <a:off x="1517715" y="-37707"/>
            <a:ext cx="10674284" cy="4949588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11" name="PA_Line 18"/>
          <p:cNvSpPr>
            <a:spLocks noChangeShapeType="1"/>
          </p:cNvSpPr>
          <p:nvPr>
            <p:custDataLst>
              <p:tags r:id="rId4"/>
            </p:custDataLst>
          </p:nvPr>
        </p:nvSpPr>
        <p:spPr bwMode="auto">
          <a:xfrm flipV="1">
            <a:off x="9747262" y="-179684"/>
            <a:ext cx="1891058" cy="7033554"/>
          </a:xfrm>
          <a:prstGeom prst="line">
            <a:avLst/>
          </a:prstGeom>
          <a:noFill/>
          <a:ln w="7938" cap="flat">
            <a:solidFill>
              <a:srgbClr val="002B4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12" name="PA_椭圆 19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9105344" y="1710670"/>
            <a:ext cx="100222" cy="100222"/>
          </a:xfrm>
          <a:prstGeom prst="ellipse">
            <a:avLst/>
          </a:prstGeom>
          <a:solidFill>
            <a:srgbClr val="002B4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13" name="PA_椭圆 20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10435706" y="4050757"/>
            <a:ext cx="100222" cy="100222"/>
          </a:xfrm>
          <a:prstGeom prst="ellipse">
            <a:avLst/>
          </a:prstGeom>
          <a:solidFill>
            <a:srgbClr val="002B4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14" name="PA_任意多边形 5"/>
          <p:cNvSpPr/>
          <p:nvPr>
            <p:custDataLst>
              <p:tags r:id="rId7"/>
            </p:custDataLst>
          </p:nvPr>
        </p:nvSpPr>
        <p:spPr bwMode="auto">
          <a:xfrm>
            <a:off x="9257122" y="0"/>
            <a:ext cx="2926691" cy="4911881"/>
          </a:xfrm>
          <a:custGeom>
            <a:avLst/>
            <a:gdLst>
              <a:gd name="T0" fmla="*/ 1462 w 2332"/>
              <a:gd name="T1" fmla="*/ 0 h 3907"/>
              <a:gd name="T2" fmla="*/ 2332 w 2332"/>
              <a:gd name="T3" fmla="*/ 0 h 3907"/>
              <a:gd name="T4" fmla="*/ 2332 w 2332"/>
              <a:gd name="T5" fmla="*/ 3907 h 3907"/>
              <a:gd name="T6" fmla="*/ 0 w 2332"/>
              <a:gd name="T7" fmla="*/ 2595 h 3907"/>
              <a:gd name="T8" fmla="*/ 1462 w 2332"/>
              <a:gd name="T9" fmla="*/ 0 h 39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32" h="3907">
                <a:moveTo>
                  <a:pt x="1462" y="0"/>
                </a:moveTo>
                <a:lnTo>
                  <a:pt x="2332" y="0"/>
                </a:lnTo>
                <a:lnTo>
                  <a:pt x="2332" y="3907"/>
                </a:lnTo>
                <a:lnTo>
                  <a:pt x="0" y="2595"/>
                </a:lnTo>
                <a:lnTo>
                  <a:pt x="1462" y="0"/>
                </a:lnTo>
                <a:close/>
              </a:path>
            </a:pathLst>
          </a:custGeom>
          <a:solidFill>
            <a:srgbClr val="002B41"/>
          </a:solidFill>
          <a:ln w="28575">
            <a:noFill/>
          </a:ln>
          <a:effectLst>
            <a:outerShdw blurRad="254000" dist="1270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endParaRPr lang="zh-CN" altLang="en-US" sz="2000">
              <a:solidFill>
                <a:srgbClr val="00183C"/>
              </a:solidFill>
            </a:endParaRPr>
          </a:p>
        </p:txBody>
      </p:sp>
      <p:sp>
        <p:nvSpPr>
          <p:cNvPr id="15" name="PA_椭圆 19"/>
          <p:cNvSpPr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7847630" y="2860740"/>
            <a:ext cx="100222" cy="100222"/>
          </a:xfrm>
          <a:prstGeom prst="ellipse">
            <a:avLst/>
          </a:prstGeom>
          <a:solidFill>
            <a:srgbClr val="002B4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16" name="TextBox 76"/>
          <p:cNvSpPr txBox="1"/>
          <p:nvPr/>
        </p:nvSpPr>
        <p:spPr>
          <a:xfrm>
            <a:off x="740874" y="2997736"/>
            <a:ext cx="5500619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" dirty="0">
                <a:solidFill>
                  <a:srgbClr val="002B4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Thanks</a:t>
            </a:r>
            <a:endParaRPr lang="en-US" altLang="zh-CN" sz="7200" dirty="0">
              <a:solidFill>
                <a:srgbClr val="002B4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PA" val="v3.0.1"/>
</p:tagLst>
</file>

<file path=ppt/tags/tag2.xml><?xml version="1.0" encoding="utf-8"?>
<p:tagLst xmlns:p="http://schemas.openxmlformats.org/presentationml/2006/main">
  <p:tag name="PA" val="v3.0.1"/>
</p:tagLst>
</file>

<file path=ppt/tags/tag3.xml><?xml version="1.0" encoding="utf-8"?>
<p:tagLst xmlns:p="http://schemas.openxmlformats.org/presentationml/2006/main">
  <p:tag name="PA" val="v3.0.1"/>
</p:tagLst>
</file>

<file path=ppt/tags/tag4.xml><?xml version="1.0" encoding="utf-8"?>
<p:tagLst xmlns:p="http://schemas.openxmlformats.org/presentationml/2006/main">
  <p:tag name="PA" val="v3.0.1"/>
</p:tagLst>
</file>

<file path=ppt/tags/tag5.xml><?xml version="1.0" encoding="utf-8"?>
<p:tagLst xmlns:p="http://schemas.openxmlformats.org/presentationml/2006/main">
  <p:tag name="PA" val="v3.0.1"/>
</p:tagLst>
</file>

<file path=ppt/tags/tag6.xml><?xml version="1.0" encoding="utf-8"?>
<p:tagLst xmlns:p="http://schemas.openxmlformats.org/presentationml/2006/main">
  <p:tag name="PA" val="v3.0.1"/>
</p:tagLst>
</file>

<file path=ppt/tags/tag7.xml><?xml version="1.0" encoding="utf-8"?>
<p:tagLst xmlns:p="http://schemas.openxmlformats.org/presentationml/2006/main">
  <p:tag name="PA" val="v3.0.1"/>
</p:tagLst>
</file>

<file path=ppt/tags/tag8.xml><?xml version="1.0" encoding="utf-8"?>
<p:tagLst xmlns:p="http://schemas.openxmlformats.org/presentationml/2006/main">
  <p:tag name="PA" val="v3.0.1"/>
</p:tagLst>
</file>

<file path=ppt/tags/tag9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10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11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12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13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14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15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16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17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18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19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20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21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22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23.xml><?xml version="1.0" encoding="utf-8"?>
<p:tagLst xmlns:p="http://schemas.openxmlformats.org/presentationml/2006/main">
  <p:tag name="KSO_WM_DIAGRAM_VIRTUALLY_FRAME" val="{&quot;height&quot;:387.2600787401575,&quot;left&quot;:340.6137795275591,&quot;top&quot;:143.88433070866142,&quot;width&quot;:611.2685039370081}"/>
</p:tagLst>
</file>

<file path=ppt/tags/tag24.xml><?xml version="1.0" encoding="utf-8"?>
<p:tagLst xmlns:p="http://schemas.openxmlformats.org/presentationml/2006/main">
  <p:tag name="KSO_WM_DIAGRAM_VIRTUALLY_FRAME" val="{&quot;height&quot;:270.25,&quot;left&quot;:84.3,&quot;top&quot;:102.95,&quot;width&quot;:355.25}"/>
</p:tagLst>
</file>

<file path=ppt/tags/tag25.xml><?xml version="1.0" encoding="utf-8"?>
<p:tagLst xmlns:p="http://schemas.openxmlformats.org/presentationml/2006/main">
  <p:tag name="KSO_WM_DIAGRAM_VIRTUALLY_FRAME" val="{&quot;height&quot;:270.25,&quot;left&quot;:84.3,&quot;top&quot;:102.95,&quot;width&quot;:355.25}"/>
</p:tagLst>
</file>

<file path=ppt/tags/tag26.xml><?xml version="1.0" encoding="utf-8"?>
<p:tagLst xmlns:p="http://schemas.openxmlformats.org/presentationml/2006/main">
  <p:tag name="KSO_WM_DIAGRAM_VIRTUALLY_FRAME" val="{&quot;height&quot;:270.25,&quot;left&quot;:84.3,&quot;top&quot;:102.95,&quot;width&quot;:355.25}"/>
</p:tagLst>
</file>

<file path=ppt/tags/tag27.xml><?xml version="1.0" encoding="utf-8"?>
<p:tagLst xmlns:p="http://schemas.openxmlformats.org/presentationml/2006/main">
  <p:tag name="KSO_WM_DIAGRAM_VIRTUALLY_FRAME" val="{&quot;height&quot;:270.25,&quot;left&quot;:84.3,&quot;top&quot;:102.95,&quot;width&quot;:355.25}"/>
</p:tagLst>
</file>

<file path=ppt/tags/tag28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29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30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31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32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33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34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35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57_2*l_h_i*1_1_3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UNIT_TYPE" val="l_h_i"/>
  <p:tag name="KSO_WM_UNIT_INDEX" val="1_1_3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gradient&quot;:[{&quot;brightness&quot;:-0.15000000596046448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57_2*l_h_i*1_3_3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UNIT_TYPE" val="l_h_i"/>
  <p:tag name="KSO_WM_UNIT_INDEX" val="1_3_3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gradient&quot;:[{&quot;brightness&quot;:-0.15000000596046448,&quot;colorType&quot;:1,&quot;foreColorIndex&quot;:7,&quot;pos&quot;:0,&quot;transparency&quot;:0},{&quot;brightness&quot;:0,&quot;colorType&quot;:1,&quot;foreColorIndex&quot;:7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57_2*l_h_i*1_2_3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UNIT_TYPE" val="l_h_i"/>
  <p:tag name="KSO_WM_UNIT_INDEX" val="1_2_3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gradient&quot;:[{&quot;brightness&quot;:-0.25,&quot;colorType&quot;:1,&quot;foreColorIndex&quot;:6,&quot;pos&quot;:0,&quot;transparency&quot;:0},{&quot;brightness&quot;:-0.10000000149011612,&quot;colorType&quot;:1,&quot;foreColorIndex&quot;:6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57_2*l_h_i*1_1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UNIT_TYPE" val="l_h_i"/>
  <p:tag name="KSO_WM_UNIT_INDEX" val="1_1_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5"/>
  <p:tag name="KSO_WM_DIAGRAM_USE_COLOR_VALUE" val="{&quot;color_scheme&quot;:1,&quot;color_type&quot;:1,&quot;theme_color_indexes&quot;:[5,6,5,6,5,6]}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57_2*l_h_i*1_3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UNIT_TYPE" val="l_h_i"/>
  <p:tag name="KSO_WM_UNIT_INDEX" val="1_3_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7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7"/>
  <p:tag name="KSO_WM_DIAGRAM_USE_COLOR_VALUE" val="{&quot;color_scheme&quot;:1,&quot;color_type&quot;:1,&quot;theme_color_indexes&quot;:[5,6,5,6,5,6]}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57_2*l_h_i*1_1_2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UNIT_TYPE" val="l_h_i"/>
  <p:tag name="KSO_WM_UNIT_INDEX" val="1_1_2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gradient&quot;:[{&quot;brightness&quot;:0.25,&quot;colorType&quot;:1,&quot;foreColorIndex&quot;:5,&quot;pos&quot;:0,&quot;transparency&quot;:0},{&quot;brightness&quot;: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57_2*l_h_i*1_2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UNIT_TYPE" val="l_h_i"/>
  <p:tag name="KSO_WM_UNIT_INDEX" val="1_2_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6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6"/>
  <p:tag name="KSO_WM_DIAGRAM_USE_COLOR_VALUE" val="{&quot;color_scheme&quot;:1,&quot;color_type&quot;:1,&quot;theme_color_indexes&quot;:[5,6,5,6,5,6]}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57_2*l_h_i*1_3_2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UNIT_TYPE" val="l_h_i"/>
  <p:tag name="KSO_WM_UNIT_INDEX" val="1_3_2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gradient&quot;:[{&quot;brightness&quot;:0.25,&quot;colorType&quot;:1,&quot;foreColorIndex&quot;:7,&quot;pos&quot;:0,&quot;transparency&quot;:0},{&quot;brightness&quot;:0.15000000596046448,&quot;colorType&quot;:1,&quot;foreColorIndex&quot;:7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057_2*l_h_i*1_2_2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UNIT_TYPE" val="l_h_i"/>
  <p:tag name="KSO_WM_UNIT_INDEX" val="1_2_2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gradient&quot;:[{&quot;brightness&quot;:0.25,&quot;colorType&quot;:1,&quot;foreColorIndex&quot;:6,&quot;pos&quot;:0,&quot;transparency&quot;:0},{&quot;brightness&quot;:0.15000000596046448,&quot;colorType&quot;:1,&quot;foreColorIndex&quot;:6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45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1057_2*l_h_f*1_1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52"/>
  <p:tag name="KSO_WM_UNIT_TEXT_TYPE" val="1"/>
  <p:tag name="KSO_WM_UNIT_TEXT_LAYER_COUNT" val="1"/>
  <p:tag name="KSO_WM_BEAUTIFY_FLAG" val="#wm#"/>
  <p:tag name="KSO_WM_UNIT_PRESET_TEXT" val="单击此处添加文本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46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1057_2*l_h_f*1_3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添加文本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47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1057_2*l_h_f*1_2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添加文本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4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20231057_2*l_h_a*1_3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gradient&quot;:[{&quot;brightness&quot;:0.30000001192092896,&quot;colorType&quot;:1,&quot;foreColorIndex&quot;:7,&quot;pos&quot;:0.800000011920929,&quot;transparency&quot;:0},{&quot;brightness&quot;:0,&quot;colorType&quot;:1,&quot;foreColorIndex&quot;:7,&quot;pos&quot;:0.20000000298023224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TYPE" val="1"/>
  <p:tag name="KSO_WM_BEAUTIFY_FLAG" val="#wm#"/>
  <p:tag name="KSO_WM_UNIT_PRESET_TEXT" val="单击此处添加标题"/>
  <p:tag name="KSO_WM_UNIT_FILL_TYPE" val="3"/>
  <p:tag name="KSO_WM_DIAGRAM_USE_COLOR_VALUE" val="{&quot;color_scheme&quot;:1,&quot;color_type&quot;:1,&quot;theme_color_indexes&quot;:[5,6,5,6,5,6]}"/>
</p:tagLst>
</file>

<file path=ppt/tags/tag4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1057_2*l_h_a*1_2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gradient&quot;:[{&quot;brightness&quot;:0.30000001192092896,&quot;colorType&quot;:1,&quot;foreColorIndex&quot;:6,&quot;pos&quot;:0.800000011920929,&quot;transparency&quot;:0},{&quot;brightness&quot;:0,&quot;colorType&quot;:1,&quot;foreColorIndex&quot;:6,&quot;pos&quot;:0.20000000298023224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TYPE" val="1"/>
  <p:tag name="KSO_WM_BEAUTIFY_FLAG" val="#wm#"/>
  <p:tag name="KSO_WM_UNIT_PRESET_TEXT" val="单击此处添加标题"/>
  <p:tag name="KSO_WM_UNIT_FILL_TYPE" val="3"/>
  <p:tag name="KSO_WM_DIAGRAM_USE_COLOR_VALUE" val="{&quot;color_scheme&quot;:1,&quot;color_type&quot;:1,&quot;theme_color_indexes&quot;:[5,6,5,6,5,6]}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1057_2*l_h_x*1_2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UNIT_VALUE" val="53*48"/>
  <p:tag name="KSO_WM_UNIT_TYPE" val="l_h_x"/>
  <p:tag name="KSO_WM_UNIT_INDEX" val="1_2_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TYPE" val="1"/>
  <p:tag name="KSO_WM_UNIT_FILL_FORE_SCHEMECOLOR_INDEX" val="14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5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1057_2*l_h_a*1_1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gradient&quot;:[{&quot;brightness&quot;:0.30000001192092896,&quot;colorType&quot;:1,&quot;foreColorIndex&quot;:5,&quot;pos&quot;:0.800000011920929,&quot;transparency&quot;:0},{&quot;brightness&quot;:0,&quot;colorType&quot;:1,&quot;foreColorIndex&quot;:5,&quot;pos&quot;:0.20000000298023224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TYPE" val="1"/>
  <p:tag name="KSO_WM_BEAUTIFY_FLAG" val="#wm#"/>
  <p:tag name="KSO_WM_UNIT_PRESET_TEXT" val="单击此处添加标题"/>
  <p:tag name="KSO_WM_UNIT_FILL_TYPE" val="3"/>
  <p:tag name="KSO_WM_DIAGRAM_USE_COLOR_VALUE" val="{&quot;color_scheme&quot;:1,&quot;color_type&quot;:1,&quot;theme_color_indexes&quot;:[5,6,5,6,5,6]}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1057_2*l_h_x*1_1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UNIT_VALUE" val="56*58"/>
  <p:tag name="KSO_WM_UNIT_TYPE" val="l_h_x"/>
  <p:tag name="KSO_WM_UNIT_INDEX" val="1_1_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TYPE" val="1"/>
  <p:tag name="KSO_WM_UNIT_FILL_FORE_SCHEMECOLOR_INDEX" val="14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1057_2*l_h_x*1_3_1"/>
  <p:tag name="KSO_WM_TEMPLATE_CATEGORY" val="diagram"/>
  <p:tag name="KSO_WM_TEMPLATE_INDEX" val="2023105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UNIT_VALUE" val="58*50"/>
  <p:tag name="KSO_WM_UNIT_TYPE" val="l_h_x"/>
  <p:tag name="KSO_WM_UNIT_INDEX" val="1_3_1"/>
  <p:tag name="KSO_WM_DIAGRAM_MAX_ITEMCNT" val="6"/>
  <p:tag name="KSO_WM_DIAGRAM_MIN_ITEMCNT" val="3"/>
  <p:tag name="KSO_WM_DIAGRAM_VIRTUALLY_FRAME" val="{&quot;height&quot;:366.7974853515625,&quot;left&quot;:45.75,&quot;top&quot;:145.25125732421876,&quot;width&quot;:858.7611694335938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TYPE" val="1"/>
  <p:tag name="KSO_WM_UNIT_FILL_FORE_SCHEMECOLOR_INDEX" val="14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54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55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56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57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58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59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60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61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62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63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64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65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66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67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68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69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70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71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72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73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74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75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76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77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78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79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80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81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82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83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84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85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86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87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88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89.xml><?xml version="1.0" encoding="utf-8"?>
<p:tagLst xmlns:p="http://schemas.openxmlformats.org/presentationml/2006/main">
  <p:tag name="KSO_WM_DIAGRAM_VIRTUALLY_FRAME" val="{&quot;height&quot;:299.55,&quot;left&quot;:82,&quot;top&quot;:73.65,&quot;width&quot;:357.55}"/>
</p:tagLst>
</file>

<file path=ppt/tags/tag90.xml><?xml version="1.0" encoding="utf-8"?>
<p:tagLst xmlns:p="http://schemas.openxmlformats.org/presentationml/2006/main">
  <p:tag name="PA" val="v3.0.1"/>
</p:tagLst>
</file>

<file path=ppt/tags/tag91.xml><?xml version="1.0" encoding="utf-8"?>
<p:tagLst xmlns:p="http://schemas.openxmlformats.org/presentationml/2006/main">
  <p:tag name="PA" val="v3.0.1"/>
</p:tagLst>
</file>

<file path=ppt/tags/tag92.xml><?xml version="1.0" encoding="utf-8"?>
<p:tagLst xmlns:p="http://schemas.openxmlformats.org/presentationml/2006/main">
  <p:tag name="PA" val="v3.0.1"/>
</p:tagLst>
</file>

<file path=ppt/tags/tag93.xml><?xml version="1.0" encoding="utf-8"?>
<p:tagLst xmlns:p="http://schemas.openxmlformats.org/presentationml/2006/main">
  <p:tag name="PA" val="v3.0.1"/>
</p:tagLst>
</file>

<file path=ppt/tags/tag94.xml><?xml version="1.0" encoding="utf-8"?>
<p:tagLst xmlns:p="http://schemas.openxmlformats.org/presentationml/2006/main">
  <p:tag name="PA" val="v3.0.1"/>
</p:tagLst>
</file>

<file path=ppt/tags/tag95.xml><?xml version="1.0" encoding="utf-8"?>
<p:tagLst xmlns:p="http://schemas.openxmlformats.org/presentationml/2006/main">
  <p:tag name="PA" val="v3.0.1"/>
</p:tagLst>
</file>

<file path=ppt/tags/tag96.xml><?xml version="1.0" encoding="utf-8"?>
<p:tagLst xmlns:p="http://schemas.openxmlformats.org/presentationml/2006/main">
  <p:tag name="PA" val="v3.0.1"/>
</p:tagLst>
</file>

<file path=ppt/tags/tag97.xml><?xml version="1.0" encoding="utf-8"?>
<p:tagLst xmlns:p="http://schemas.openxmlformats.org/presentationml/2006/main">
  <p:tag name="PA" val="v3.0.1"/>
</p:tagLst>
</file>

<file path=ppt/tags/tag98.xml><?xml version="1.0" encoding="utf-8"?>
<p:tagLst xmlns:p="http://schemas.openxmlformats.org/presentationml/2006/main">
  <p:tag name="resource_record_key" val="{&quot;10&quot;:[19995604],&quot;70&quot;:[3314052]}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7351</Words>
  <Application>WPS 演示</Application>
  <PresentationFormat>宽屏</PresentationFormat>
  <Paragraphs>374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2" baseType="lpstr">
      <vt:lpstr>Arial</vt:lpstr>
      <vt:lpstr>宋体</vt:lpstr>
      <vt:lpstr>Wingdings</vt:lpstr>
      <vt:lpstr>Impact</vt:lpstr>
      <vt:lpstr>微软雅黑</vt:lpstr>
      <vt:lpstr>Calibri</vt:lpstr>
      <vt:lpstr>Arial Unicode MS</vt:lpstr>
      <vt:lpstr>Calibri Light</vt:lpstr>
      <vt:lpstr>BatangChe</vt:lpstr>
      <vt:lpstr>Segoe Print</vt:lpstr>
      <vt:lpstr>Arial</vt:lpstr>
      <vt:lpstr>Office 主题</vt:lpstr>
      <vt:lpstr>1_Office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http://www.ypppt.com/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优品PPT</dc:creator>
  <cp:keywords>http:/www.ypppt.com</cp:keywords>
  <dc:description>http://www.ypppt.com/</dc:description>
  <cp:lastModifiedBy>李世东</cp:lastModifiedBy>
  <cp:revision>62</cp:revision>
  <dcterms:created xsi:type="dcterms:W3CDTF">2016-12-09T01:44:00Z</dcterms:created>
  <dcterms:modified xsi:type="dcterms:W3CDTF">2025-12-21T18:15:36Z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KSOTemplateUUID">
    <vt:lpwstr>v1.0_mb_qoR8LeWZrkilfB1LXMdFTw==</vt:lpwstr>
  </property>
  <property fmtid="{D5CDD505-2E9C-101B-9397-08002B2CF9AE}" pid="4" name="ICV">
    <vt:lpwstr>50415EF8F8094D69A2688C9FA3A5100A_11</vt:lpwstr>
  </property>
</Properties>
</file>